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6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  <p:sldMasterId id="2147483733" r:id="rId2"/>
    <p:sldMasterId id="2147483746" r:id="rId3"/>
    <p:sldMasterId id="2147483759" r:id="rId4"/>
    <p:sldMasterId id="2147483763" r:id="rId5"/>
    <p:sldMasterId id="2147483767" r:id="rId6"/>
    <p:sldMasterId id="2147483776" r:id="rId7"/>
  </p:sldMasterIdLst>
  <p:notesMasterIdLst>
    <p:notesMasterId r:id="rId20"/>
  </p:notesMasterIdLst>
  <p:sldIdLst>
    <p:sldId id="318" r:id="rId8"/>
    <p:sldId id="262" r:id="rId9"/>
    <p:sldId id="324" r:id="rId10"/>
    <p:sldId id="334" r:id="rId11"/>
    <p:sldId id="330" r:id="rId12"/>
    <p:sldId id="336" r:id="rId13"/>
    <p:sldId id="337" r:id="rId14"/>
    <p:sldId id="338" r:id="rId15"/>
    <p:sldId id="340" r:id="rId16"/>
    <p:sldId id="339" r:id="rId17"/>
    <p:sldId id="341" r:id="rId18"/>
    <p:sldId id="327" r:id="rId1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64CE7-A91E-4BA3-9A7A-325ED022C8D3}" v="141" dt="2026-01-27T22:18:14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240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, Carmen  (Jiamin)" userId="44b7c590-11dd-41a4-aa23-563d65d9652c" providerId="ADAL" clId="{2F2DD3A3-42CC-468C-87A0-32093E37872C}"/>
    <pc:docChg chg="undo redo custSel addSld delSld modSld sldOrd modNotesMaster">
      <pc:chgData name="Lu, Carmen  (Jiamin)" userId="44b7c590-11dd-41a4-aa23-563d65d9652c" providerId="ADAL" clId="{2F2DD3A3-42CC-468C-87A0-32093E37872C}" dt="2026-01-27T22:42:03.441" v="5708"/>
      <pc:docMkLst>
        <pc:docMk/>
      </pc:docMkLst>
      <pc:sldChg chg="modSp addAnim delAnim modAnim">
        <pc:chgData name="Lu, Carmen  (Jiamin)" userId="44b7c590-11dd-41a4-aa23-563d65d9652c" providerId="ADAL" clId="{2F2DD3A3-42CC-468C-87A0-32093E37872C}" dt="2026-01-27T22:16:48.188" v="5703"/>
        <pc:sldMkLst>
          <pc:docMk/>
          <pc:sldMk cId="3956042417" sldId="262"/>
        </pc:sldMkLst>
        <pc:spChg chg="mod">
          <ac:chgData name="Lu, Carmen  (Jiamin)" userId="44b7c590-11dd-41a4-aa23-563d65d9652c" providerId="ADAL" clId="{2F2DD3A3-42CC-468C-87A0-32093E37872C}" dt="2026-01-14T20:35:37.520" v="5401" actId="113"/>
          <ac:spMkLst>
            <pc:docMk/>
            <pc:sldMk cId="3956042417" sldId="262"/>
            <ac:spMk id="3" creationId="{39EC4FA7-5892-3F18-779B-3B8DEA84C586}"/>
          </ac:spMkLst>
        </pc:spChg>
      </pc:sldChg>
      <pc:sldChg chg="modSp mod">
        <pc:chgData name="Lu, Carmen  (Jiamin)" userId="44b7c590-11dd-41a4-aa23-563d65d9652c" providerId="ADAL" clId="{2F2DD3A3-42CC-468C-87A0-32093E37872C}" dt="2026-01-14T20:38:00.222" v="5414" actId="1076"/>
        <pc:sldMkLst>
          <pc:docMk/>
          <pc:sldMk cId="4050726603" sldId="318"/>
        </pc:sldMkLst>
        <pc:spChg chg="mod">
          <ac:chgData name="Lu, Carmen  (Jiamin)" userId="44b7c590-11dd-41a4-aa23-563d65d9652c" providerId="ADAL" clId="{2F2DD3A3-42CC-468C-87A0-32093E37872C}" dt="2026-01-14T20:38:00.222" v="5414" actId="1076"/>
          <ac:spMkLst>
            <pc:docMk/>
            <pc:sldMk cId="4050726603" sldId="318"/>
            <ac:spMk id="2" creationId="{9CA38A97-5744-DC4F-A0B9-C9D23245F322}"/>
          </ac:spMkLst>
        </pc:spChg>
      </pc:sldChg>
      <pc:sldChg chg="addSp modSp mod setBg addAnim delAnim modAnim">
        <pc:chgData name="Lu, Carmen  (Jiamin)" userId="44b7c590-11dd-41a4-aa23-563d65d9652c" providerId="ADAL" clId="{2F2DD3A3-42CC-468C-87A0-32093E37872C}" dt="2026-01-14T18:28:58.339" v="5397" actId="27636"/>
        <pc:sldMkLst>
          <pc:docMk/>
          <pc:sldMk cId="1898984108" sldId="324"/>
        </pc:sldMkLst>
        <pc:spChg chg="mod">
          <ac:chgData name="Lu, Carmen  (Jiamin)" userId="44b7c590-11dd-41a4-aa23-563d65d9652c" providerId="ADAL" clId="{2F2DD3A3-42CC-468C-87A0-32093E37872C}" dt="2026-01-14T18:28:58.339" v="5397" actId="27636"/>
          <ac:spMkLst>
            <pc:docMk/>
            <pc:sldMk cId="1898984108" sldId="324"/>
            <ac:spMk id="27" creationId="{88AED4D3-E4CA-0465-D987-EF5A6DF9B0E0}"/>
          </ac:spMkLst>
        </pc:spChg>
        <pc:picChg chg="add mod modCrop">
          <ac:chgData name="Lu, Carmen  (Jiamin)" userId="44b7c590-11dd-41a4-aa23-563d65d9652c" providerId="ADAL" clId="{2F2DD3A3-42CC-468C-87A0-32093E37872C}" dt="2026-01-08T18:09:38.454" v="4791" actId="14100"/>
          <ac:picMkLst>
            <pc:docMk/>
            <pc:sldMk cId="1898984108" sldId="324"/>
            <ac:picMk id="4" creationId="{02A25C11-1AE3-6C94-2374-B7A4F5EF1A18}"/>
          </ac:picMkLst>
        </pc:picChg>
      </pc:sldChg>
      <pc:sldChg chg="modSp mod">
        <pc:chgData name="Lu, Carmen  (Jiamin)" userId="44b7c590-11dd-41a4-aa23-563d65d9652c" providerId="ADAL" clId="{2F2DD3A3-42CC-468C-87A0-32093E37872C}" dt="2026-01-13T22:35:14.579" v="4927" actId="20578"/>
        <pc:sldMkLst>
          <pc:docMk/>
          <pc:sldMk cId="51700588" sldId="330"/>
        </pc:sldMkLst>
        <pc:spChg chg="mod">
          <ac:chgData name="Lu, Carmen  (Jiamin)" userId="44b7c590-11dd-41a4-aa23-563d65d9652c" providerId="ADAL" clId="{2F2DD3A3-42CC-468C-87A0-32093E37872C}" dt="2026-01-13T22:33:38.448" v="4907" actId="20577"/>
          <ac:spMkLst>
            <pc:docMk/>
            <pc:sldMk cId="51700588" sldId="330"/>
            <ac:spMk id="21" creationId="{1FAD7111-581C-F853-A808-7F81BA92FCAD}"/>
          </ac:spMkLst>
        </pc:spChg>
        <pc:spChg chg="mod">
          <ac:chgData name="Lu, Carmen  (Jiamin)" userId="44b7c590-11dd-41a4-aa23-563d65d9652c" providerId="ADAL" clId="{2F2DD3A3-42CC-468C-87A0-32093E37872C}" dt="2026-01-13T22:34:33.537" v="4917" actId="20577"/>
          <ac:spMkLst>
            <pc:docMk/>
            <pc:sldMk cId="51700588" sldId="330"/>
            <ac:spMk id="28" creationId="{EE93DFE7-CC6F-6303-00A1-6447A82A0BF2}"/>
          </ac:spMkLst>
        </pc:spChg>
        <pc:spChg chg="mod">
          <ac:chgData name="Lu, Carmen  (Jiamin)" userId="44b7c590-11dd-41a4-aa23-563d65d9652c" providerId="ADAL" clId="{2F2DD3A3-42CC-468C-87A0-32093E37872C}" dt="2026-01-13T22:34:59.977" v="4926" actId="14100"/>
          <ac:spMkLst>
            <pc:docMk/>
            <pc:sldMk cId="51700588" sldId="330"/>
            <ac:spMk id="29" creationId="{60978034-A124-5013-AC0E-4B6BC47287F3}"/>
          </ac:spMkLst>
        </pc:spChg>
        <pc:spChg chg="mod">
          <ac:chgData name="Lu, Carmen  (Jiamin)" userId="44b7c590-11dd-41a4-aa23-563d65d9652c" providerId="ADAL" clId="{2F2DD3A3-42CC-468C-87A0-32093E37872C}" dt="2026-01-13T22:35:14.579" v="4927" actId="20578"/>
          <ac:spMkLst>
            <pc:docMk/>
            <pc:sldMk cId="51700588" sldId="330"/>
            <ac:spMk id="32" creationId="{C548D00F-1D1A-36D3-5A91-A4D0B3BED6D8}"/>
          </ac:spMkLst>
        </pc:spChg>
      </pc:sldChg>
      <pc:sldChg chg="addSp modSp mod addAnim delAnim modAnim modNotesTx">
        <pc:chgData name="Lu, Carmen  (Jiamin)" userId="44b7c590-11dd-41a4-aa23-563d65d9652c" providerId="ADAL" clId="{2F2DD3A3-42CC-468C-87A0-32093E37872C}" dt="2026-01-27T22:42:03.441" v="5708"/>
        <pc:sldMkLst>
          <pc:docMk/>
          <pc:sldMk cId="2259123914" sldId="334"/>
        </pc:sldMkLst>
        <pc:spChg chg="add mod">
          <ac:chgData name="Lu, Carmen  (Jiamin)" userId="44b7c590-11dd-41a4-aa23-563d65d9652c" providerId="ADAL" clId="{2F2DD3A3-42CC-468C-87A0-32093E37872C}" dt="2026-01-14T18:12:16.545" v="5149" actId="5793"/>
          <ac:spMkLst>
            <pc:docMk/>
            <pc:sldMk cId="2259123914" sldId="334"/>
            <ac:spMk id="3" creationId="{4F0644B8-57D0-8503-58ED-8F7B99A60E81}"/>
          </ac:spMkLst>
        </pc:spChg>
        <pc:spChg chg="mod ord">
          <ac:chgData name="Lu, Carmen  (Jiamin)" userId="44b7c590-11dd-41a4-aa23-563d65d9652c" providerId="ADAL" clId="{2F2DD3A3-42CC-468C-87A0-32093E37872C}" dt="2026-01-14T20:13:04.767" v="5399" actId="20577"/>
          <ac:spMkLst>
            <pc:docMk/>
            <pc:sldMk cId="2259123914" sldId="334"/>
            <ac:spMk id="18" creationId="{88C9392A-D237-FAFF-50C9-8D3C7EAA623F}"/>
          </ac:spMkLst>
        </pc:spChg>
        <pc:spChg chg="mod">
          <ac:chgData name="Lu, Carmen  (Jiamin)" userId="44b7c590-11dd-41a4-aa23-563d65d9652c" providerId="ADAL" clId="{2F2DD3A3-42CC-468C-87A0-32093E37872C}" dt="2026-01-14T18:08:36.123" v="5093" actId="1076"/>
          <ac:spMkLst>
            <pc:docMk/>
            <pc:sldMk cId="2259123914" sldId="334"/>
            <ac:spMk id="27" creationId="{E4194C5B-E49C-A681-FE3F-CB8269DB9362}"/>
          </ac:spMkLst>
        </pc:spChg>
        <pc:grpChg chg="add mod">
          <ac:chgData name="Lu, Carmen  (Jiamin)" userId="44b7c590-11dd-41a4-aa23-563d65d9652c" providerId="ADAL" clId="{2F2DD3A3-42CC-468C-87A0-32093E37872C}" dt="2026-01-13T22:25:43.803" v="4820" actId="164"/>
          <ac:grpSpMkLst>
            <pc:docMk/>
            <pc:sldMk cId="2259123914" sldId="334"/>
            <ac:grpSpMk id="9" creationId="{6B36E7B0-F861-A3F8-9E0D-284F8E50AEED}"/>
          </ac:grpSpMkLst>
        </pc:grpChg>
        <pc:grpChg chg="add mod">
          <ac:chgData name="Lu, Carmen  (Jiamin)" userId="44b7c590-11dd-41a4-aa23-563d65d9652c" providerId="ADAL" clId="{2F2DD3A3-42CC-468C-87A0-32093E37872C}" dt="2026-01-14T18:09:19.231" v="5114" actId="1076"/>
          <ac:grpSpMkLst>
            <pc:docMk/>
            <pc:sldMk cId="2259123914" sldId="334"/>
            <ac:grpSpMk id="10" creationId="{366B5FBF-5ABC-57AF-6A2D-A6401B5D06E6}"/>
          </ac:grpSpMkLst>
        </pc:grpChg>
        <pc:grpChg chg="mod ord">
          <ac:chgData name="Lu, Carmen  (Jiamin)" userId="44b7c590-11dd-41a4-aa23-563d65d9652c" providerId="ADAL" clId="{2F2DD3A3-42CC-468C-87A0-32093E37872C}" dt="2026-01-13T22:25:43.803" v="4820" actId="164"/>
          <ac:grpSpMkLst>
            <pc:docMk/>
            <pc:sldMk cId="2259123914" sldId="334"/>
            <ac:grpSpMk id="16" creationId="{C1ECCF7E-0CA2-D1CA-C456-053E3A8F0A5B}"/>
          </ac:grpSpMkLst>
        </pc:grpChg>
        <pc:picChg chg="add mod">
          <ac:chgData name="Lu, Carmen  (Jiamin)" userId="44b7c590-11dd-41a4-aa23-563d65d9652c" providerId="ADAL" clId="{2F2DD3A3-42CC-468C-87A0-32093E37872C}" dt="2026-01-13T22:41:45.200" v="4948" actId="164"/>
          <ac:picMkLst>
            <pc:docMk/>
            <pc:sldMk cId="2259123914" sldId="334"/>
            <ac:picMk id="4" creationId="{49A6504F-6E65-70EE-FE28-1D7543B9D277}"/>
          </ac:picMkLst>
        </pc:picChg>
        <pc:picChg chg="mod">
          <ac:chgData name="Lu, Carmen  (Jiamin)" userId="44b7c590-11dd-41a4-aa23-563d65d9652c" providerId="ADAL" clId="{2F2DD3A3-42CC-468C-87A0-32093E37872C}" dt="2026-01-13T22:41:45.200" v="4948" actId="164"/>
          <ac:picMkLst>
            <pc:docMk/>
            <pc:sldMk cId="2259123914" sldId="334"/>
            <ac:picMk id="5" creationId="{79B2439A-9AA7-0496-C8DC-EE4FCA40AD76}"/>
          </ac:picMkLst>
        </pc:picChg>
        <pc:picChg chg="add mod">
          <ac:chgData name="Lu, Carmen  (Jiamin)" userId="44b7c590-11dd-41a4-aa23-563d65d9652c" providerId="ADAL" clId="{2F2DD3A3-42CC-468C-87A0-32093E37872C}" dt="2026-01-13T22:25:43.803" v="4820" actId="164"/>
          <ac:picMkLst>
            <pc:docMk/>
            <pc:sldMk cId="2259123914" sldId="334"/>
            <ac:picMk id="8" creationId="{F74F38CB-BC4D-65D7-6C55-24C267794F51}"/>
          </ac:picMkLst>
        </pc:picChg>
        <pc:cxnChg chg="ord">
          <ac:chgData name="Lu, Carmen  (Jiamin)" userId="44b7c590-11dd-41a4-aa23-563d65d9652c" providerId="ADAL" clId="{2F2DD3A3-42CC-468C-87A0-32093E37872C}" dt="2026-01-13T22:25:17.566" v="4816" actId="166"/>
          <ac:cxnSpMkLst>
            <pc:docMk/>
            <pc:sldMk cId="2259123914" sldId="334"/>
            <ac:cxnSpMk id="13" creationId="{353F30B7-11D6-2C2A-DCC2-38D811B6757A}"/>
          </ac:cxnSpMkLst>
        </pc:cxnChg>
      </pc:sldChg>
      <pc:sldChg chg="modSp mod">
        <pc:chgData name="Lu, Carmen  (Jiamin)" userId="44b7c590-11dd-41a4-aa23-563d65d9652c" providerId="ADAL" clId="{2F2DD3A3-42CC-468C-87A0-32093E37872C}" dt="2026-01-13T22:55:09.185" v="4965" actId="14100"/>
        <pc:sldMkLst>
          <pc:docMk/>
          <pc:sldMk cId="1036311690" sldId="336"/>
        </pc:sldMkLst>
        <pc:spChg chg="mod">
          <ac:chgData name="Lu, Carmen  (Jiamin)" userId="44b7c590-11dd-41a4-aa23-563d65d9652c" providerId="ADAL" clId="{2F2DD3A3-42CC-468C-87A0-32093E37872C}" dt="2026-01-13T22:55:09.185" v="4965" actId="14100"/>
          <ac:spMkLst>
            <pc:docMk/>
            <pc:sldMk cId="1036311690" sldId="336"/>
            <ac:spMk id="28" creationId="{42CBC2CF-1592-B17D-3D87-2970E245590E}"/>
          </ac:spMkLst>
        </pc:spChg>
      </pc:sldChg>
      <pc:sldChg chg="addSp delSp modSp mod addAnim delAnim modAnim">
        <pc:chgData name="Lu, Carmen  (Jiamin)" userId="44b7c590-11dd-41a4-aa23-563d65d9652c" providerId="ADAL" clId="{2F2DD3A3-42CC-468C-87A0-32093E37872C}" dt="2026-01-27T22:20:51.190" v="5706" actId="166"/>
        <pc:sldMkLst>
          <pc:docMk/>
          <pc:sldMk cId="1126189130" sldId="337"/>
        </pc:sldMkLst>
        <pc:spChg chg="mod ord">
          <ac:chgData name="Lu, Carmen  (Jiamin)" userId="44b7c590-11dd-41a4-aa23-563d65d9652c" providerId="ADAL" clId="{2F2DD3A3-42CC-468C-87A0-32093E37872C}" dt="2026-01-27T18:14:05.748" v="5568" actId="20577"/>
          <ac:spMkLst>
            <pc:docMk/>
            <pc:sldMk cId="1126189130" sldId="337"/>
            <ac:spMk id="3" creationId="{FAA1B276-7367-3073-D769-70488CB0A084}"/>
          </ac:spMkLst>
        </pc:spChg>
        <pc:spChg chg="mod">
          <ac:chgData name="Lu, Carmen  (Jiamin)" userId="44b7c590-11dd-41a4-aa23-563d65d9652c" providerId="ADAL" clId="{2F2DD3A3-42CC-468C-87A0-32093E37872C}" dt="2026-01-13T22:58:16.702" v="4984" actId="14100"/>
          <ac:spMkLst>
            <pc:docMk/>
            <pc:sldMk cId="1126189130" sldId="337"/>
            <ac:spMk id="21" creationId="{7911F0AF-C622-FD5D-269D-FB1E201A44C9}"/>
          </ac:spMkLst>
        </pc:spChg>
        <pc:spChg chg="mod ord">
          <ac:chgData name="Lu, Carmen  (Jiamin)" userId="44b7c590-11dd-41a4-aa23-563d65d9652c" providerId="ADAL" clId="{2F2DD3A3-42CC-468C-87A0-32093E37872C}" dt="2026-01-27T22:20:51.190" v="5706" actId="166"/>
          <ac:spMkLst>
            <pc:docMk/>
            <pc:sldMk cId="1126189130" sldId="337"/>
            <ac:spMk id="28" creationId="{73A6CEFA-4878-ED74-897D-9646D62DEF63}"/>
          </ac:spMkLst>
        </pc:spChg>
        <pc:grpChg chg="ord">
          <ac:chgData name="Lu, Carmen  (Jiamin)" userId="44b7c590-11dd-41a4-aa23-563d65d9652c" providerId="ADAL" clId="{2F2DD3A3-42CC-468C-87A0-32093E37872C}" dt="2026-01-26T23:06:10.022" v="5459" actId="166"/>
          <ac:grpSpMkLst>
            <pc:docMk/>
            <pc:sldMk cId="1126189130" sldId="337"/>
            <ac:grpSpMk id="9" creationId="{EA9DFB36-1011-F9A6-E8B0-1BEBAD1CEB61}"/>
          </ac:grpSpMkLst>
        </pc:grpChg>
        <pc:grpChg chg="add mod">
          <ac:chgData name="Lu, Carmen  (Jiamin)" userId="44b7c590-11dd-41a4-aa23-563d65d9652c" providerId="ADAL" clId="{2F2DD3A3-42CC-468C-87A0-32093E37872C}" dt="2026-01-26T23:07:06.557" v="5461" actId="164"/>
          <ac:grpSpMkLst>
            <pc:docMk/>
            <pc:sldMk cId="1126189130" sldId="337"/>
            <ac:grpSpMk id="18" creationId="{3F92CA3A-F1D8-30E4-8A66-A7CABB626529}"/>
          </ac:grpSpMkLst>
        </pc:grpChg>
        <pc:picChg chg="add mod">
          <ac:chgData name="Lu, Carmen  (Jiamin)" userId="44b7c590-11dd-41a4-aa23-563d65d9652c" providerId="ADAL" clId="{2F2DD3A3-42CC-468C-87A0-32093E37872C}" dt="2026-01-26T23:07:06.557" v="5461" actId="164"/>
          <ac:picMkLst>
            <pc:docMk/>
            <pc:sldMk cId="1126189130" sldId="337"/>
            <ac:picMk id="5" creationId="{AAF0F27E-1728-9CAF-E042-8088C7898765}"/>
          </ac:picMkLst>
        </pc:picChg>
        <pc:picChg chg="mod">
          <ac:chgData name="Lu, Carmen  (Jiamin)" userId="44b7c590-11dd-41a4-aa23-563d65d9652c" providerId="ADAL" clId="{2F2DD3A3-42CC-468C-87A0-32093E37872C}" dt="2026-01-26T23:07:06.557" v="5461" actId="164"/>
          <ac:picMkLst>
            <pc:docMk/>
            <pc:sldMk cId="1126189130" sldId="337"/>
            <ac:picMk id="6" creationId="{374855AE-807A-78A8-55F2-4CFC27D95808}"/>
          </ac:picMkLst>
        </pc:picChg>
        <pc:picChg chg="add del mod">
          <ac:chgData name="Lu, Carmen  (Jiamin)" userId="44b7c590-11dd-41a4-aa23-563d65d9652c" providerId="ADAL" clId="{2F2DD3A3-42CC-468C-87A0-32093E37872C}" dt="2026-01-26T23:02:49.361" v="5433" actId="478"/>
          <ac:picMkLst>
            <pc:docMk/>
            <pc:sldMk cId="1126189130" sldId="337"/>
            <ac:picMk id="11" creationId="{05978CCB-2D16-65C4-B4FA-CF5BFDA0DF7E}"/>
          </ac:picMkLst>
        </pc:picChg>
        <pc:picChg chg="add mod">
          <ac:chgData name="Lu, Carmen  (Jiamin)" userId="44b7c590-11dd-41a4-aa23-563d65d9652c" providerId="ADAL" clId="{2F2DD3A3-42CC-468C-87A0-32093E37872C}" dt="2026-01-26T23:03:43.815" v="5442" actId="14100"/>
          <ac:picMkLst>
            <pc:docMk/>
            <pc:sldMk cId="1126189130" sldId="337"/>
            <ac:picMk id="13" creationId="{F177243D-D1B5-3884-4CFD-C62878F4772B}"/>
          </ac:picMkLst>
        </pc:picChg>
        <pc:picChg chg="add mod">
          <ac:chgData name="Lu, Carmen  (Jiamin)" userId="44b7c590-11dd-41a4-aa23-563d65d9652c" providerId="ADAL" clId="{2F2DD3A3-42CC-468C-87A0-32093E37872C}" dt="2026-01-26T23:07:06.557" v="5461" actId="164"/>
          <ac:picMkLst>
            <pc:docMk/>
            <pc:sldMk cId="1126189130" sldId="337"/>
            <ac:picMk id="15" creationId="{9B2B3B29-9DCE-4889-4E29-837704082EBC}"/>
          </ac:picMkLst>
        </pc:picChg>
        <pc:picChg chg="add mod">
          <ac:chgData name="Lu, Carmen  (Jiamin)" userId="44b7c590-11dd-41a4-aa23-563d65d9652c" providerId="ADAL" clId="{2F2DD3A3-42CC-468C-87A0-32093E37872C}" dt="2026-01-26T23:07:06.557" v="5461" actId="164"/>
          <ac:picMkLst>
            <pc:docMk/>
            <pc:sldMk cId="1126189130" sldId="337"/>
            <ac:picMk id="17" creationId="{7F0D91DC-E602-6291-50F1-E97864B8B2D8}"/>
          </ac:picMkLst>
        </pc:picChg>
      </pc:sldChg>
      <pc:sldChg chg="addSp modSp mod addAnim delAnim modAnim">
        <pc:chgData name="Lu, Carmen  (Jiamin)" userId="44b7c590-11dd-41a4-aa23-563d65d9652c" providerId="ADAL" clId="{2F2DD3A3-42CC-468C-87A0-32093E37872C}" dt="2026-01-27T22:22:45.679" v="5707"/>
        <pc:sldMkLst>
          <pc:docMk/>
          <pc:sldMk cId="742646868" sldId="338"/>
        </pc:sldMkLst>
        <pc:grpChg chg="add mod">
          <ac:chgData name="Lu, Carmen  (Jiamin)" userId="44b7c590-11dd-41a4-aa23-563d65d9652c" providerId="ADAL" clId="{2F2DD3A3-42CC-468C-87A0-32093E37872C}" dt="2026-01-27T18:16:54.901" v="5569" actId="164"/>
          <ac:grpSpMkLst>
            <pc:docMk/>
            <pc:sldMk cId="742646868" sldId="338"/>
            <ac:grpSpMk id="3" creationId="{E504605A-EECF-5A3C-C9E8-9B078332CB76}"/>
          </ac:grpSpMkLst>
        </pc:grpChg>
        <pc:picChg chg="add mod modCrop">
          <ac:chgData name="Lu, Carmen  (Jiamin)" userId="44b7c590-11dd-41a4-aa23-563d65d9652c" providerId="ADAL" clId="{2F2DD3A3-42CC-468C-87A0-32093E37872C}" dt="2026-01-27T18:16:54.901" v="5569" actId="164"/>
          <ac:picMkLst>
            <pc:docMk/>
            <pc:sldMk cId="742646868" sldId="338"/>
            <ac:picMk id="4" creationId="{7DD3A424-C34C-3C57-6E53-8FB825043CB9}"/>
          </ac:picMkLst>
        </pc:picChg>
        <pc:picChg chg="mod">
          <ac:chgData name="Lu, Carmen  (Jiamin)" userId="44b7c590-11dd-41a4-aa23-563d65d9652c" providerId="ADAL" clId="{2F2DD3A3-42CC-468C-87A0-32093E37872C}" dt="2026-01-27T18:16:54.901" v="5569" actId="164"/>
          <ac:picMkLst>
            <pc:docMk/>
            <pc:sldMk cId="742646868" sldId="338"/>
            <ac:picMk id="5" creationId="{2783F813-7068-6027-A888-0CA6CAED9025}"/>
          </ac:picMkLst>
        </pc:picChg>
      </pc:sldChg>
      <pc:sldChg chg="modSp mod">
        <pc:chgData name="Lu, Carmen  (Jiamin)" userId="44b7c590-11dd-41a4-aa23-563d65d9652c" providerId="ADAL" clId="{2F2DD3A3-42CC-468C-87A0-32093E37872C}" dt="2026-01-27T22:14:01.165" v="5698" actId="1036"/>
        <pc:sldMkLst>
          <pc:docMk/>
          <pc:sldMk cId="942702971" sldId="339"/>
        </pc:sldMkLst>
        <pc:spChg chg="mod">
          <ac:chgData name="Lu, Carmen  (Jiamin)" userId="44b7c590-11dd-41a4-aa23-563d65d9652c" providerId="ADAL" clId="{2F2DD3A3-42CC-468C-87A0-32093E37872C}" dt="2026-01-27T22:14:01.165" v="5698" actId="1036"/>
          <ac:spMkLst>
            <pc:docMk/>
            <pc:sldMk cId="942702971" sldId="339"/>
            <ac:spMk id="21" creationId="{07806D18-BD32-2004-CA4D-44F48A327501}"/>
          </ac:spMkLst>
        </pc:spChg>
      </pc:sldChg>
      <pc:sldChg chg="addSp modSp mod addAnim delAnim modAnim">
        <pc:chgData name="Lu, Carmen  (Jiamin)" userId="44b7c590-11dd-41a4-aa23-563d65d9652c" providerId="ADAL" clId="{2F2DD3A3-42CC-468C-87A0-32093E37872C}" dt="2026-01-27T22:14:30.653" v="5699"/>
        <pc:sldMkLst>
          <pc:docMk/>
          <pc:sldMk cId="1401049918" sldId="341"/>
        </pc:sldMkLst>
        <pc:spChg chg="mod">
          <ac:chgData name="Lu, Carmen  (Jiamin)" userId="44b7c590-11dd-41a4-aa23-563d65d9652c" providerId="ADAL" clId="{2F2DD3A3-42CC-468C-87A0-32093E37872C}" dt="2026-01-13T23:22:26.919" v="4985" actId="14100"/>
          <ac:spMkLst>
            <pc:docMk/>
            <pc:sldMk cId="1401049918" sldId="341"/>
            <ac:spMk id="21" creationId="{6E2A818C-DB0C-4960-FF37-D3DD36AFA855}"/>
          </ac:spMkLst>
        </pc:spChg>
        <pc:spChg chg="mod ord">
          <ac:chgData name="Lu, Carmen  (Jiamin)" userId="44b7c590-11dd-41a4-aa23-563d65d9652c" providerId="ADAL" clId="{2F2DD3A3-42CC-468C-87A0-32093E37872C}" dt="2026-01-27T19:00:18.608" v="5696" actId="14100"/>
          <ac:spMkLst>
            <pc:docMk/>
            <pc:sldMk cId="1401049918" sldId="341"/>
            <ac:spMk id="28" creationId="{9077CE46-DBF9-3896-6FA5-3EF7D22926BC}"/>
          </ac:spMkLst>
        </pc:spChg>
        <pc:grpChg chg="add mod">
          <ac:chgData name="Lu, Carmen  (Jiamin)" userId="44b7c590-11dd-41a4-aa23-563d65d9652c" providerId="ADAL" clId="{2F2DD3A3-42CC-468C-87A0-32093E37872C}" dt="2026-01-27T18:28:22.019" v="5598" actId="164"/>
          <ac:grpSpMkLst>
            <pc:docMk/>
            <pc:sldMk cId="1401049918" sldId="341"/>
            <ac:grpSpMk id="5" creationId="{20187A56-CD70-EB53-6C99-D08357F34ECA}"/>
          </ac:grpSpMkLst>
        </pc:grpChg>
        <pc:grpChg chg="mod">
          <ac:chgData name="Lu, Carmen  (Jiamin)" userId="44b7c590-11dd-41a4-aa23-563d65d9652c" providerId="ADAL" clId="{2F2DD3A3-42CC-468C-87A0-32093E37872C}" dt="2026-01-27T18:23:40.682" v="5570" actId="164"/>
          <ac:grpSpMkLst>
            <pc:docMk/>
            <pc:sldMk cId="1401049918" sldId="341"/>
            <ac:grpSpMk id="7" creationId="{49208E4F-2FAD-5C7D-F547-58E5FA2768BE}"/>
          </ac:grpSpMkLst>
        </pc:grpChg>
        <pc:grpChg chg="add mod ord">
          <ac:chgData name="Lu, Carmen  (Jiamin)" userId="44b7c590-11dd-41a4-aa23-563d65d9652c" providerId="ADAL" clId="{2F2DD3A3-42CC-468C-87A0-32093E37872C}" dt="2026-01-27T18:57:21.235" v="5667" actId="164"/>
          <ac:grpSpMkLst>
            <pc:docMk/>
            <pc:sldMk cId="1401049918" sldId="341"/>
            <ac:grpSpMk id="12" creationId="{3340FB16-5EF2-075C-7E72-86FC97463184}"/>
          </ac:grpSpMkLst>
        </pc:grpChg>
        <pc:grpChg chg="add mod ord">
          <ac:chgData name="Lu, Carmen  (Jiamin)" userId="44b7c590-11dd-41a4-aa23-563d65d9652c" providerId="ADAL" clId="{2F2DD3A3-42CC-468C-87A0-32093E37872C}" dt="2026-01-27T18:59:33.840" v="5688" actId="1076"/>
          <ac:grpSpMkLst>
            <pc:docMk/>
            <pc:sldMk cId="1401049918" sldId="341"/>
            <ac:grpSpMk id="15" creationId="{29D3B504-5C59-69F5-983D-2BF574654373}"/>
          </ac:grpSpMkLst>
        </pc:grpChg>
        <pc:grpChg chg="add mod">
          <ac:chgData name="Lu, Carmen  (Jiamin)" userId="44b7c590-11dd-41a4-aa23-563d65d9652c" providerId="ADAL" clId="{2F2DD3A3-42CC-468C-87A0-32093E37872C}" dt="2026-01-27T18:54:17.577" v="5635" actId="164"/>
          <ac:grpSpMkLst>
            <pc:docMk/>
            <pc:sldMk cId="1401049918" sldId="341"/>
            <ac:grpSpMk id="18" creationId="{A807E297-9DEE-0DBD-0C13-0D485B06222D}"/>
          </ac:grpSpMkLst>
        </pc:grpChg>
        <pc:grpChg chg="add mod">
          <ac:chgData name="Lu, Carmen  (Jiamin)" userId="44b7c590-11dd-41a4-aa23-563d65d9652c" providerId="ADAL" clId="{2F2DD3A3-42CC-468C-87A0-32093E37872C}" dt="2026-01-27T18:55:16.810" v="5645" actId="164"/>
          <ac:grpSpMkLst>
            <pc:docMk/>
            <pc:sldMk cId="1401049918" sldId="341"/>
            <ac:grpSpMk id="19" creationId="{2D86F40E-6214-EDFB-F3C5-39E98E9DEB08}"/>
          </ac:grpSpMkLst>
        </pc:grpChg>
        <pc:grpChg chg="add mod">
          <ac:chgData name="Lu, Carmen  (Jiamin)" userId="44b7c590-11dd-41a4-aa23-563d65d9652c" providerId="ADAL" clId="{2F2DD3A3-42CC-468C-87A0-32093E37872C}" dt="2026-01-27T18:56:09.486" v="5653" actId="164"/>
          <ac:grpSpMkLst>
            <pc:docMk/>
            <pc:sldMk cId="1401049918" sldId="341"/>
            <ac:grpSpMk id="20" creationId="{1936749C-BFA4-44AC-3E59-A2FDA166D892}"/>
          </ac:grpSpMkLst>
        </pc:grpChg>
        <pc:grpChg chg="add mod">
          <ac:chgData name="Lu, Carmen  (Jiamin)" userId="44b7c590-11dd-41a4-aa23-563d65d9652c" providerId="ADAL" clId="{2F2DD3A3-42CC-468C-87A0-32093E37872C}" dt="2026-01-27T18:56:44.039" v="5660" actId="164"/>
          <ac:grpSpMkLst>
            <pc:docMk/>
            <pc:sldMk cId="1401049918" sldId="341"/>
            <ac:grpSpMk id="22" creationId="{138277DD-5F7E-A5B1-F1FE-15CBC8FEB0FF}"/>
          </ac:grpSpMkLst>
        </pc:grpChg>
        <pc:grpChg chg="add mod">
          <ac:chgData name="Lu, Carmen  (Jiamin)" userId="44b7c590-11dd-41a4-aa23-563d65d9652c" providerId="ADAL" clId="{2F2DD3A3-42CC-468C-87A0-32093E37872C}" dt="2026-01-27T18:59:49.879" v="5690" actId="1076"/>
          <ac:grpSpMkLst>
            <pc:docMk/>
            <pc:sldMk cId="1401049918" sldId="341"/>
            <ac:grpSpMk id="23" creationId="{7B02E904-18C1-8F11-5214-D73D46128881}"/>
          </ac:grpSpMkLst>
        </pc:grpChg>
        <pc:picChg chg="add mod">
          <ac:chgData name="Lu, Carmen  (Jiamin)" userId="44b7c590-11dd-41a4-aa23-563d65d9652c" providerId="ADAL" clId="{2F2DD3A3-42CC-468C-87A0-32093E37872C}" dt="2026-01-27T18:23:40.682" v="5570" actId="164"/>
          <ac:picMkLst>
            <pc:docMk/>
            <pc:sldMk cId="1401049918" sldId="341"/>
            <ac:picMk id="3" creationId="{28C203A4-BF0B-26B8-3450-D75C10BE8E86}"/>
          </ac:picMkLst>
        </pc:picChg>
        <pc:picChg chg="add mod">
          <ac:chgData name="Lu, Carmen  (Jiamin)" userId="44b7c590-11dd-41a4-aa23-563d65d9652c" providerId="ADAL" clId="{2F2DD3A3-42CC-468C-87A0-32093E37872C}" dt="2026-01-27T18:58:29.306" v="5678" actId="14100"/>
          <ac:picMkLst>
            <pc:docMk/>
            <pc:sldMk cId="1401049918" sldId="341"/>
            <ac:picMk id="9" creationId="{9D6086D4-930D-E4FA-F855-2BC413FFB285}"/>
          </ac:picMkLst>
        </pc:picChg>
        <pc:picChg chg="add mod">
          <ac:chgData name="Lu, Carmen  (Jiamin)" userId="44b7c590-11dd-41a4-aa23-563d65d9652c" providerId="ADAL" clId="{2F2DD3A3-42CC-468C-87A0-32093E37872C}" dt="2026-01-27T18:59:55.778" v="5694" actId="1036"/>
          <ac:picMkLst>
            <pc:docMk/>
            <pc:sldMk cId="1401049918" sldId="341"/>
            <ac:picMk id="11" creationId="{5B48A035-8F62-5122-01AB-4F4626D39041}"/>
          </ac:picMkLst>
        </pc:picChg>
        <pc:picChg chg="add mod">
          <ac:chgData name="Lu, Carmen  (Jiamin)" userId="44b7c590-11dd-41a4-aa23-563d65d9652c" providerId="ADAL" clId="{2F2DD3A3-42CC-468C-87A0-32093E37872C}" dt="2026-01-27T18:28:26.963" v="5599" actId="1076"/>
          <ac:picMkLst>
            <pc:docMk/>
            <pc:sldMk cId="1401049918" sldId="341"/>
            <ac:picMk id="14" creationId="{13967038-C53B-BFB3-FFCC-74AA5FAE6EA7}"/>
          </ac:picMkLst>
        </pc:picChg>
        <pc:picChg chg="add mod">
          <ac:chgData name="Lu, Carmen  (Jiamin)" userId="44b7c590-11dd-41a4-aa23-563d65d9652c" providerId="ADAL" clId="{2F2DD3A3-42CC-468C-87A0-32093E37872C}" dt="2026-01-27T18:58:35.074" v="5682" actId="1076"/>
          <ac:picMkLst>
            <pc:docMk/>
            <pc:sldMk cId="1401049918" sldId="341"/>
            <ac:picMk id="17" creationId="{D90D40FD-49CA-89A5-3427-25A6B84C5F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BD73327-26E7-4993-A207-73120F12ADE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88E266F-A93C-4350-B26B-A5902B52F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2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6612">
              <a:defRPr/>
            </a:pPr>
            <a:fld id="{D2AF188A-0F44-FD4E-B909-E82A9DA274B2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612"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12874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2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</a:t>
            </a:r>
            <a:r>
              <a:rPr lang="en-US" dirty="0" err="1"/>
              <a:t>PowerBi</a:t>
            </a:r>
            <a:r>
              <a:rPr lang="en-US" dirty="0"/>
              <a:t> can’t auto refresh is using Python script, so I chose SQL query to make sure data auto </a:t>
            </a:r>
            <a:r>
              <a:rPr lang="en-US" dirty="0" err="1"/>
              <a:t>refesh</a:t>
            </a:r>
            <a:r>
              <a:rPr lang="en-US" dirty="0"/>
              <a:t>. Data Lakehouse is coming, but we can make some changes with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59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049B-F1C8-1523-D4A0-0AC8DDE0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DA1DA-4DFA-91FA-0A35-41DE67C6C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61FA1-756C-5F0D-EEFE-E5A006E11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1BE3D-D8FA-EB4D-9812-4E55B2BB8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32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05CD1-9C8A-E096-A56B-9998AB1AF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06208-D29E-EC76-2AE7-A422DE2C4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EB4E2-070D-737B-89D3-8D3CC0C50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E7DF2-49EA-197A-1AEE-815EEA75E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1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DDD52-382C-760F-9055-79A908AD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E20A3-0D54-428D-A591-33A22DA97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1F4EB-45D1-7B3C-D6DE-C8C81BDAB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</a:t>
            </a:r>
            <a:r>
              <a:rPr lang="en-US" dirty="0" err="1"/>
              <a:t>PowerBi</a:t>
            </a:r>
            <a:r>
              <a:rPr lang="en-US" dirty="0"/>
              <a:t> can’t auto refresh is using Python script, so I chose SQL query to make sure data auto </a:t>
            </a:r>
            <a:r>
              <a:rPr lang="en-US" dirty="0" err="1"/>
              <a:t>refesh</a:t>
            </a:r>
            <a:r>
              <a:rPr lang="en-US" dirty="0"/>
              <a:t>. Data Lakehouse is coming, but we can make some changes with that.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582DA-C0BE-7982-98C5-E04B0666F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28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531F5-A788-9083-0878-442A901F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04A32-23B2-B2F6-EE00-37F263ADF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94AC6-3EA2-7423-0866-08E2D76DC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</a:t>
            </a:r>
            <a:r>
              <a:rPr lang="en-US" dirty="0" err="1"/>
              <a:t>PowerBi</a:t>
            </a:r>
            <a:r>
              <a:rPr lang="en-US" dirty="0"/>
              <a:t> can’t auto refresh is using Python script, so I chose SQL query to make sure data auto </a:t>
            </a:r>
            <a:r>
              <a:rPr lang="en-US" dirty="0" err="1"/>
              <a:t>refesh</a:t>
            </a:r>
            <a:r>
              <a:rPr lang="en-US" dirty="0"/>
              <a:t>. Data Lakehouse is coming, but we can make some changes with that.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FE007-0D62-B29B-6A34-56497F7D2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83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74C29-C66D-8015-C191-B35293A1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A8972-D3CF-9C75-0090-2C3A957DB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56F04-9CA3-9AF2-DC5C-C3CCCE890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</a:t>
            </a:r>
            <a:r>
              <a:rPr lang="en-US" dirty="0" err="1"/>
              <a:t>PowerBi</a:t>
            </a:r>
            <a:r>
              <a:rPr lang="en-US" dirty="0"/>
              <a:t> can’t auto refresh is using Python script, so I chose SQL query to make sure data auto </a:t>
            </a:r>
            <a:r>
              <a:rPr lang="en-US" dirty="0" err="1"/>
              <a:t>refesh</a:t>
            </a:r>
            <a:r>
              <a:rPr lang="en-US" dirty="0"/>
              <a:t>. Data Lakehouse is coming, but we can make some changes with that.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E6D23-A0AF-8AC8-4794-B621B8C65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40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989C-4AFB-B609-4D22-DA88FE0A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A1F47-5A11-16D4-710F-7C16474BC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3F135-93FC-FE74-BAEE-231CADBD5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</a:t>
            </a:r>
            <a:r>
              <a:rPr lang="en-US" dirty="0" err="1"/>
              <a:t>PowerBi</a:t>
            </a:r>
            <a:r>
              <a:rPr lang="en-US" dirty="0"/>
              <a:t> can’t auto refresh is using Python script, so I chose SQL query to make sure data auto </a:t>
            </a:r>
            <a:r>
              <a:rPr lang="en-US" dirty="0" err="1"/>
              <a:t>refesh</a:t>
            </a:r>
            <a:r>
              <a:rPr lang="en-US" dirty="0"/>
              <a:t>. Data Lakehouse is coming, but we can make some changes with that.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49FAA-6E62-7497-7E49-88CF2A10E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15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99A2-EE7E-E3E0-04EA-8063F19F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720A7-3AAD-A3CC-7776-96B40E1D7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79664-0514-4923-99B1-9031B0E8A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</a:t>
            </a:r>
            <a:r>
              <a:rPr lang="en-US" dirty="0" err="1"/>
              <a:t>PowerBi</a:t>
            </a:r>
            <a:r>
              <a:rPr lang="en-US" dirty="0"/>
              <a:t> can’t auto refresh is using Python script, so I chose SQL query to make sure data auto </a:t>
            </a:r>
            <a:r>
              <a:rPr lang="en-US" dirty="0" err="1"/>
              <a:t>refesh</a:t>
            </a:r>
            <a:r>
              <a:rPr lang="en-US" dirty="0"/>
              <a:t>. Data Lakehouse is coming, but we can make some changes with that.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E8C28-188C-0B7C-B402-4463AED39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92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F0EBB-B6F2-ECBC-E208-8BB4A24C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5F9FC7-6AEF-6978-FB8E-C118F8B6B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4521A-C3B7-06DA-05E3-7C4B70F7C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</a:t>
            </a:r>
            <a:r>
              <a:rPr lang="en-US" dirty="0" err="1"/>
              <a:t>PowerBi</a:t>
            </a:r>
            <a:r>
              <a:rPr lang="en-US" dirty="0"/>
              <a:t> can’t auto refresh is using Python script, so I chose SQL query to make sure data auto </a:t>
            </a:r>
            <a:r>
              <a:rPr lang="en-US" dirty="0" err="1"/>
              <a:t>refesh</a:t>
            </a:r>
            <a:r>
              <a:rPr lang="en-US" dirty="0"/>
              <a:t>. Data Lakehouse is coming, but we can make some changes with that.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4A65B-CF8C-F60E-2B35-BB771AB59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07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266F-A93C-4350-B26B-A5902B52FC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1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slide headlin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48BA-C5A5-0B4A-A8FC-30B9944C0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79CB2-8C7A-A942-8C88-139B54AFC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652DE5C-3AB6-5D12-EA73-C94FEEDF6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87F9CC5-7E48-4CD4-7A9E-EE3949ABD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5B105F20-BF7C-7593-BF6A-23E93E550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1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6A89234-9B97-3551-7AEE-38C35F7D5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3768D19-657B-68FE-A476-41A7728BB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825585E9-ECB7-B8E4-C967-674D808C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, bullet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6A89234-9B97-3551-7AEE-38C35F7D5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3768D19-657B-68FE-A476-41A7728BB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825585E9-ECB7-B8E4-C967-674D808C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22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line and grey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5073-3790-DE46-8A88-638C1A05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8403B-0A88-1946-B260-5996B39CA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ts val="3200"/>
              </a:lnSpc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6A889C-2924-E848-0BAA-F7B01E28D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F7B0C9B-262E-82F2-AB5A-8115F885D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2F631D30-76BE-A17A-E749-83ED4FE4A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26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68A9-EFDE-3F47-ABD3-B6093A61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E8719-D012-5E4D-8BEC-889833F9C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DA3CA-8D9C-9841-A514-B00A6DCD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DF744A9-5E33-6680-EE8B-32844A576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7E38444-9B41-C8A7-0677-2887FA47F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5FEB3219-3831-5A07-2491-3901B1D4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9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3D8F-17C2-2449-B5E5-353CBC07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E6B38-5FB8-EE43-B9AC-70BFF074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ts val="35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4002F-9765-6B4F-BACA-92758583B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400"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B914C-4512-6744-B7CE-085A95CA0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58BAB-36BD-0A40-9D35-C10AB079B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4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A665018-D630-ED45-BBF6-48C212730F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D97FF0E-34D8-DFFC-F556-7C302221BD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0E6860C-597E-B5CE-C44E-F04B5B0C03C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6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e as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DD8A-D3AD-A443-992E-349D68E9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C842CE-E89F-1245-B923-E0DE7A7EF5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10515600" cy="4175125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199311A-A473-D19B-86E8-8F2EBCCAB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4F012A-598A-2042-3209-D93E19DE2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C72F663B-D9C4-226B-1D24-6EAA03AED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5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524DF4F-66BA-ED22-1B43-6E8C23811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E5AEED-7B99-3313-980D-C697DA6E2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1EFE1638-BE92-FE20-8151-CE9B09E28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7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niq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00FB10-7E9B-CC15-32B2-4F29B7EA9C1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406" y="1916241"/>
            <a:ext cx="10946394" cy="3864845"/>
          </a:xfrm>
        </p:spPr>
        <p:txBody>
          <a:bodyPr>
            <a:normAutofit/>
          </a:bodyPr>
          <a:lstStyle>
            <a:lvl2pPr marL="457200" marR="0" indent="0" algn="l" defTabSz="914400" rtl="0" eaLnBrk="1" fontAlgn="auto" latinLnBrk="0" hangingPunct="1">
              <a:lnSpc>
                <a:spcPts val="24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2pPr>
          </a:lstStyle>
          <a:p>
            <a:pPr marL="457200" lvl="1" indent="0">
              <a:lnSpc>
                <a:spcPts val="2400"/>
              </a:lnSpc>
              <a:buNone/>
            </a:pPr>
            <a:r>
              <a:rPr lang="en-US" sz="1800" dirty="0"/>
              <a:t>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20E084B-442B-AF07-A176-9303762E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4949325-2A92-D92F-0D76-A269CCC7EA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57E8C02-C045-98EA-107D-D56158A78C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C9523F8-74C3-9F32-A5D2-E32E5D10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06" y="365126"/>
            <a:ext cx="10946394" cy="7117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376A47-96B0-AC04-BD1E-142A9462439C}"/>
              </a:ext>
            </a:extLst>
          </p:cNvPr>
          <p:cNvSpPr txBox="1"/>
          <p:nvPr/>
        </p:nvSpPr>
        <p:spPr>
          <a:xfrm>
            <a:off x="407406" y="1452123"/>
            <a:ext cx="10946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2317580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C050B-8841-DD4E-BF9C-160CAA38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85F4-7D1B-6B47-A83C-E6F0F0652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3200"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800"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400"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000"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DCC80-49F3-9F42-8CF2-6A9A2FD31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53CF516-57F7-D5ED-C777-B53E863F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0A51AD-D586-FBA5-FD8D-5E3E5FE10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02F34656-3AE2-EADA-CE1C-90715BC700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35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C92F-8526-584A-9F47-8A1FF38DB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560CC-A167-9041-AAA8-DDEDB028F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2E05AE-02CC-B249-8FA0-059D9CE27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FE26C8-AECE-1780-DBA1-B12E23D59A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DDA317B-C492-907F-4CF2-D0B79123A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3954A71A-A181-E7B3-21AD-FD0929C4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00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8F992A-396D-4B4F-B725-75F93175E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12040FA-E206-C041-BA3F-E28603EB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275"/>
            <a:ext cx="4572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2B4A5B-287B-E74F-9191-801DF68C3C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2525" y="4105275"/>
            <a:ext cx="4489450" cy="165576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B64B79-DC5D-F842-81B4-21F363A5A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573463"/>
            <a:ext cx="9144000" cy="465137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dirty="0"/>
              <a:t>Click to edit – place date of presentation here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4BF437D-6D4F-97C8-8D3C-AD6DB68B8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7FA35FE-ED23-8287-404D-24B49D0B4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6AF01109-BE62-A4B2-EE3E-3292D8F8D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95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ame as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DD8A-D3AD-A443-992E-349D68E9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C842CE-E89F-1245-B923-E0DE7A7EF5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10515600" cy="4175125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199311A-A473-D19B-86E8-8F2EBCCAB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4F012A-598A-2042-3209-D93E19DE2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C72F663B-D9C4-226B-1D24-6EAA03AED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34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slid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CB27012-B36B-4E36-AF02-2BF068358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9CAF34-C849-F406-EDF5-8E01B7843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D737CA77-9E93-9A30-1E53-D461131D6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011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6A89234-9B97-3551-7AEE-38C35F7D5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3768D19-657B-68FE-A476-41A7728BB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825585E9-ECB7-B8E4-C967-674D808C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322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C572-869B-984A-8B89-0C755BDD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5FA6-E25E-8D46-99B7-D5DA1CBC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86D759C-885E-3441-3BE6-1ADA0DDB6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EDB1FD4E-D631-934B-BCCD-C5E7E1501853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254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E3FC-0AB0-F746-88B9-C86BBCE3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1875-2DFF-754F-A2F6-093AFE425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30F0-50D7-E043-949D-3DD7D7A5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F6F23-0047-724E-91E9-319D71A4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88E4B1A8-EDE0-6409-D6D7-5DBE268D3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2D998538-5CEC-3F47-87B1-DC432A779DAF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18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EB19-BBF1-214C-9565-5F4E21D1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8294-191F-5F4F-BBEF-141D3C0F8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48A48-4996-CD41-8033-9A634C450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2EF37-E176-5845-A351-0659F753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2553F-48EF-2E4F-A125-976CF2DD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6C48AF9-3718-7D83-FEAF-78300DCA8C0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DC999B04-BBC9-1145-89A9-DA0322FC00DA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7081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0452-1BFC-2C4F-BBDC-6D14316A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462CF-C3E0-6C43-B2B1-D41250A4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622DC-75A3-A047-B4F0-F89634466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D62FB-A5AC-434B-A050-14ED5544F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46A61-5950-7D4E-857F-5BE376684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B43CE-AAEE-B54C-92E2-9F4964ED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91ADB-A578-8F45-8698-4D86BDB9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90B809A4-6A95-A7BC-8B65-B07DA1093A4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9FC0C600-191E-344A-B2F8-C5CB50D62737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832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2545-2F70-824E-9C24-CED8FB46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C3AE1-A0EC-D94A-810D-313386F1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023DF-DBD3-E146-94DE-5101EED1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0C3773B-0FB9-382A-3913-F971059AA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CD99FF5F-CD4A-1C48-BB05-9175FC9C65FB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6636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2BD40-3E78-D546-838B-E027ABEB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C0F4-E4BC-4C4B-B820-E321D264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88279-3822-266A-D0F8-DB6D738C1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A718DD10-703A-B549-A274-0B76AFF61C83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423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83D5-7991-0347-AD61-C473D620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22F5-B36A-5F48-839F-9EFAF729E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2"/>
                </a:solidFill>
              </a:defRPr>
            </a:lvl1pPr>
            <a:lvl2pPr>
              <a:defRPr sz="2800">
                <a:solidFill>
                  <a:schemeClr val="bg2"/>
                </a:solidFill>
              </a:defRPr>
            </a:lvl2pPr>
            <a:lvl3pPr>
              <a:defRPr sz="2400">
                <a:solidFill>
                  <a:schemeClr val="bg2"/>
                </a:solidFill>
              </a:defRPr>
            </a:lvl3pPr>
            <a:lvl4pPr>
              <a:defRPr sz="2000">
                <a:solidFill>
                  <a:schemeClr val="bg2"/>
                </a:solidFill>
              </a:defRPr>
            </a:lvl4pPr>
            <a:lvl5pPr>
              <a:defRPr sz="20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4088D-BE8B-D842-82E6-1C5300084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693EB-7B6E-D248-BB1E-05D1F6AB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46996-3C2E-5C48-804A-1430821C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4AA81103-5E0B-2C7F-0B52-C764BCC6E63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C884A588-A090-C643-B172-DDBB1F965C57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476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7AF4-440C-A44B-802A-A4A54EB9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E66237-A380-8249-9A43-7043942EF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11DEC-435A-D44E-BD8B-38192B519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49F0A-C89B-BA43-A058-4C390D22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4A05B-9D64-9145-99C8-43AF0C83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7820C6E-EF15-6A2F-AE93-5EE33ED26907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62BDD41E-200C-F04C-A25E-E2BDC8082F4F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910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80BC-3553-9245-A7F7-DC65F39E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FA0AE-89E6-2D4F-B7EF-72EAE279E3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63713"/>
            <a:ext cx="10515600" cy="4367212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3200"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6532483-7DBB-547C-DD8E-F6A8C677F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12D77CD-EDEC-5F36-FE9A-4269362EE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9E8C7FEF-4885-AAFA-047F-C36FF2FB5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6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8F992A-396D-4B4F-B725-75F93175E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12040FA-E206-C041-BA3F-E28603EB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275"/>
            <a:ext cx="4572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2B4A5B-287B-E74F-9191-801DF68C3C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2525" y="4105275"/>
            <a:ext cx="4489450" cy="165576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B64B79-DC5D-F842-81B4-21F363A5A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573463"/>
            <a:ext cx="9144000" cy="465137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dirty="0"/>
              <a:t>Click to edit – place date of presentation here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4BF437D-6D4F-97C8-8D3C-AD6DB68B8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7FA35FE-ED23-8287-404D-24B49D0B4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6AF01109-BE62-A4B2-EE3E-3292D8F8D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556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98645-1B49-6A49-B309-BF938F42726E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93196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ame as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DD8A-D3AD-A443-992E-349D68E9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C842CE-E89F-1245-B923-E0DE7A7EF5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10515600" cy="4175125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199311A-A473-D19B-86E8-8F2EBCCAB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4F012A-598A-2042-3209-D93E19DE2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C72F663B-D9C4-226B-1D24-6EAA03AED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247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8AE8-0AC2-4D72-F193-57B3673B4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0CE97-F742-EE2D-3FF8-B3E768335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92F46-3C83-E40A-08AE-A9DA23EA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0ABFE-E3BF-6148-60FD-9CF6511D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E69D3-0545-91C7-F691-DFFDDE32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85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slid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352A-87D9-054C-9C37-F9C3372EB792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0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6A89234-9B97-3551-7AEE-38C35F7D5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3768D19-657B-68FE-A476-41A7728BB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825585E9-ECB7-B8E4-C967-674D808C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828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C572-869B-984A-8B89-0C755BDD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5FA6-E25E-8D46-99B7-D5DA1CBC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3D62E-B7E5-134A-8F69-9B99864246AE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778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E3FC-0AB0-F746-88B9-C86BBCE3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1875-2DFF-754F-A2F6-093AFE425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68FAA-D2D0-FE4D-AA51-3AFC0E00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ED50E-323E-4947-9904-14F71101310A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30F0-50D7-E043-949D-3DD7D7A58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F6F23-0047-724E-91E9-319D71A4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585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EB19-BBF1-214C-9565-5F4E21D1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8294-191F-5F4F-BBEF-141D3C0F8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48A48-4996-CD41-8033-9A634C450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E7E0B-22D9-E543-A56E-B1671CFD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A0497-A626-C340-8E21-3C7464F1B6A9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2EF37-E176-5845-A351-0659F753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2553F-48EF-2E4F-A125-976CF2DD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90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0452-1BFC-2C4F-BBDC-6D14316A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462CF-C3E0-6C43-B2B1-D41250A4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622DC-75A3-A047-B4F0-F89634466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D62FB-A5AC-434B-A050-14ED5544F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46A61-5950-7D4E-857F-5BE376684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E041B2-8F33-9240-99B2-EFAB4CB2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BA990-1750-204F-9D5D-887157DF346A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B43CE-AAEE-B54C-92E2-9F4964ED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91ADB-A578-8F45-8698-4D86BDB9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787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2545-2F70-824E-9C24-CED8FB46C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3AE04-A1A6-894A-8C3E-C5B1BE60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7E7A-E1DD-EC46-A2E5-21949CBDEFCC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C3AE1-A0EC-D94A-810D-313386F1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023DF-DBD3-E146-94DE-5101EED1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408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DD942-D93E-A84E-B080-959E42B7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2B86A-7E36-1946-A00D-F40DA3F5C2AA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2BD40-3E78-D546-838B-E027ABEB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C0F4-E4BC-4C4B-B820-E321D264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461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83D5-7991-0347-AD61-C473D620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22F5-B36A-5F48-839F-9EFAF729E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2"/>
                </a:solidFill>
              </a:defRPr>
            </a:lvl1pPr>
            <a:lvl2pPr>
              <a:defRPr sz="2800">
                <a:solidFill>
                  <a:schemeClr val="bg2"/>
                </a:solidFill>
              </a:defRPr>
            </a:lvl2pPr>
            <a:lvl3pPr>
              <a:defRPr sz="2400">
                <a:solidFill>
                  <a:schemeClr val="bg2"/>
                </a:solidFill>
              </a:defRPr>
            </a:lvl3pPr>
            <a:lvl4pPr>
              <a:defRPr sz="2000">
                <a:solidFill>
                  <a:schemeClr val="bg2"/>
                </a:solidFill>
              </a:defRPr>
            </a:lvl4pPr>
            <a:lvl5pPr>
              <a:defRPr sz="20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4088D-BE8B-D842-82E6-1C5300084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AF92E-D5EB-3245-8021-AC3372B4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9354D-92B9-414F-97FC-496543580F97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693EB-7B6E-D248-BB1E-05D1F6AB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46996-3C2E-5C48-804A-1430821C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49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7AF4-440C-A44B-802A-A4A54EB9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E66237-A380-8249-9A43-7043942EF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11DEC-435A-D44E-BD8B-38192B519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B8855-36DC-BA47-8C8F-86B5A62D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45B7D-2C03-CD43-B910-38DC60A6B4A3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49F0A-C89B-BA43-A058-4C390D22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4A05B-9D64-9145-99C8-43AF0C83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860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80BC-3553-9245-A7F7-DC65F39E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FA0AE-89E6-2D4F-B7EF-72EAE279E3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763713"/>
            <a:ext cx="10515600" cy="4367212"/>
          </a:xfrm>
        </p:spPr>
        <p:txBody>
          <a:bodyPr/>
          <a:lstStyle>
            <a:lvl1pPr marL="228600" indent="-228600">
              <a:spcBef>
                <a:spcPts val="1000"/>
              </a:spcBef>
              <a:buFont typeface="Wingdings" panose="05000000000000000000" pitchFamily="2" charset="2"/>
              <a:buChar char="§"/>
              <a:defRPr sz="3200"/>
            </a:lvl1pPr>
            <a:lvl2pPr marL="6858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1430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002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057400" indent="-228600"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6532483-7DBB-547C-DD8E-F6A8C677F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12D77CD-EDEC-5F36-FE9A-4269362EE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9E8C7FEF-4885-AAFA-047F-C36FF2FB5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0028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B8F992A-396D-4B4F-B725-75F93175E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12040FA-E206-C041-BA3F-E28603EB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5275"/>
            <a:ext cx="4572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2B4A5B-287B-E74F-9191-801DF68C3C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2525" y="4105275"/>
            <a:ext cx="4489450" cy="165576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B64B79-DC5D-F842-81B4-21F363A5A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573463"/>
            <a:ext cx="9144000" cy="465137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dirty="0"/>
              <a:t>Click to edit – place date of presentation here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4BF437D-6D4F-97C8-8D3C-AD6DB68B8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7FA35FE-ED23-8287-404D-24B49D0B4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6AF01109-BE62-A4B2-EE3E-3292D8F8D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7558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98645-1B49-6A49-B309-BF938F42726E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6026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DD942-D93E-A84E-B080-959E42B7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B90D-24D6-E24E-BFB0-3FC29E04CEB5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2BD40-3E78-D546-838B-E027ABEB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C0F4-E4BC-4C4B-B820-E321D264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851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84821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F6B1-EAB2-634F-8441-B14864C52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9D1A8-26CC-AC44-A8BB-11B8145F4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32485-467C-3B42-8C1A-6561A233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9CE498E-5FB2-E440-A41E-72BB4B568BAE}" type="datetime4">
              <a:rPr lang="en-US" smtClean="0"/>
              <a:t>January 27,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9588A-513D-3E41-B1B1-A4FC56C7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80602-3089-A040-B2EA-00AEEB42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3430" y="6363784"/>
            <a:ext cx="2743200" cy="365125"/>
          </a:xfrm>
          <a:prstGeom prst="rect">
            <a:avLst/>
          </a:prstGeom>
        </p:spPr>
        <p:txBody>
          <a:bodyPr/>
          <a:lstStyle/>
          <a:p>
            <a:fld id="{DC8B536D-7A5C-B246-809F-A74B740C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160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B4E477-7A98-7E43-AA8D-221E2F8D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8CD92A-5183-C743-BC85-72740D517F90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40628-7999-9E48-8E77-C4367874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2B100-572C-5340-99D3-F349867F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3430" y="6363784"/>
            <a:ext cx="2743200" cy="365125"/>
          </a:xfrm>
          <a:prstGeom prst="rect">
            <a:avLst/>
          </a:prstGeom>
        </p:spPr>
        <p:txBody>
          <a:bodyPr/>
          <a:lstStyle/>
          <a:p>
            <a:fld id="{DC8B536D-7A5C-B246-809F-A74B740C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22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80481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F6B1-EAB2-634F-8441-B14864C52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9D1A8-26CC-AC44-A8BB-11B8145F4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32485-467C-3B42-8C1A-6561A233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4C31B6-FA1D-F042-B2CB-95D0598E9C1A}" type="datetime4">
              <a:rPr lang="en-US" smtClean="0"/>
              <a:t>January 27,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9588A-513D-3E41-B1B1-A4FC56C7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80602-3089-A040-B2EA-00AEEB42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3430" y="6363784"/>
            <a:ext cx="2743200" cy="365125"/>
          </a:xfrm>
          <a:prstGeom prst="rect">
            <a:avLst/>
          </a:prstGeom>
        </p:spPr>
        <p:txBody>
          <a:bodyPr/>
          <a:lstStyle/>
          <a:p>
            <a:fld id="{DC8B536D-7A5C-B246-809F-A74B740C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270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B4E477-7A98-7E43-AA8D-221E2F8D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BA28F-C782-A64B-9E22-10A857ECFEAD}" type="datetime4">
              <a:rPr lang="en-US" smtClean="0"/>
              <a:t>January 27,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40628-7999-9E48-8E77-C4367874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2B100-572C-5340-99D3-F349867F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3430" y="6363784"/>
            <a:ext cx="2743200" cy="365125"/>
          </a:xfrm>
          <a:prstGeom prst="rect">
            <a:avLst/>
          </a:prstGeom>
        </p:spPr>
        <p:txBody>
          <a:bodyPr/>
          <a:lstStyle/>
          <a:p>
            <a:fld id="{DC8B536D-7A5C-B246-809F-A74B740C95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678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97329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71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50" b="1" i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91750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531C2-1937-684D-A2E1-BF05D3F1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98645-1B49-6A49-B309-BF938F42726E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48105-0B43-AD49-BAD1-9C586709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E857-59FE-EE44-8295-0E6D7BF3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9F7DA6-9A67-3945-AB1A-1E4C54EB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12538C0-0663-814C-A4F7-CFB499221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883446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DD942-D93E-A84E-B080-959E42B7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B90D-24D6-E24E-BFB0-3FC29E04CEB5}" type="datetime4">
              <a:rPr lang="en-US" smtClean="0"/>
              <a:t>January 27,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2BD40-3E78-D546-838B-E027ABEB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7C0F4-E4BC-4C4B-B820-E321D264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7310-9B5B-C142-8378-6C6FC0F81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081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Headline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0708-087E-FE4D-A9D7-77199D6A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4FDF5-B9DA-614D-A3C6-0F9203C7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866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5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01131C-DD02-DC4C-903B-DC260E1F4569}"/>
              </a:ext>
            </a:extLst>
          </p:cNvPr>
          <p:cNvSpPr/>
          <p:nvPr/>
        </p:nvSpPr>
        <p:spPr>
          <a:xfrm>
            <a:off x="0" y="6176963"/>
            <a:ext cx="12192001" cy="681037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F1E0E-7A64-E942-AE0C-94E13B8D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2054E-0EA9-954D-B7E5-FCE9483D8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A440C7-84C8-0E47-84A6-382F0B0073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6454" y="6307932"/>
            <a:ext cx="350921" cy="417551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03404CC-EE23-41DD-EA34-CC2F5B3BB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B02B5BF-989C-BE16-0938-D557423D7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A8C137B-886E-492F-8E7B-06E2B035B6E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6E883B13-DBCB-3F9B-61E1-085F14254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F7D5BD58-0D60-4F9B-B4CD-2BB24D54EE7B}" type="datetimeFigureOut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1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1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CAC07-897D-624B-A381-4A7CE04D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9B32-CF06-4546-9D65-7B5542F2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390C7-FA76-B26A-F807-A17448D636F0}"/>
              </a:ext>
            </a:extLst>
          </p:cNvPr>
          <p:cNvSpPr/>
          <p:nvPr/>
        </p:nvSpPr>
        <p:spPr>
          <a:xfrm>
            <a:off x="-1" y="6176963"/>
            <a:ext cx="12192001" cy="68103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1045-D75C-7B4C-8C03-477E3378B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1876-699B-194D-915C-2FC0955A7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E99F02-A6A1-D121-828F-F116BE078FB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6284099"/>
            <a:ext cx="350921" cy="417551"/>
          </a:xfrm>
          <a:prstGeom prst="rect">
            <a:avLst/>
          </a:prstGeom>
        </p:spPr>
      </p:pic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AC82C3D9-346A-18CB-8DA4-B63E5E688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93080" y="6356350"/>
            <a:ext cx="1788319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fld id="{1D5C4ED5-C9FE-6D4C-AE58-E377B7F30B49}" type="datetime4">
              <a:rPr lang="en-US" smtClean="0"/>
              <a:t>January 27,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12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73" r:id="rId13"/>
    <p:sldLayoutId id="2147483774" r:id="rId14"/>
    <p:sldLayoutId id="214748377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985CAC-EC51-CA42-9A1E-13B4DDD26CE7}"/>
              </a:ext>
            </a:extLst>
          </p:cNvPr>
          <p:cNvSpPr/>
          <p:nvPr/>
        </p:nvSpPr>
        <p:spPr>
          <a:xfrm>
            <a:off x="-1" y="19474"/>
            <a:ext cx="12192001" cy="6308341"/>
          </a:xfrm>
          <a:prstGeom prst="rect">
            <a:avLst/>
          </a:prstGeom>
          <a:solidFill>
            <a:srgbClr val="1435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CAC07-897D-624B-A381-4A7CE04D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9B32-CF06-4546-9D65-7B5542F2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74083-9340-424F-84D9-09598381A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180FB8F6-007D-2349-BF6B-B0A4000EC002}" type="datetime4">
              <a:rPr lang="en-US" smtClean="0"/>
              <a:t>January 27,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1045-D75C-7B4C-8C03-477E3378B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1876-699B-194D-915C-2FC0955A7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D3AAAB-9EC7-7F40-826A-EF886BB614F8}"/>
              </a:ext>
            </a:extLst>
          </p:cNvPr>
          <p:cNvSpPr/>
          <p:nvPr/>
        </p:nvSpPr>
        <p:spPr>
          <a:xfrm>
            <a:off x="-1" y="6176963"/>
            <a:ext cx="12192001" cy="681037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CBEE97-4664-994C-8F97-AE0C289F91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6454" y="6307932"/>
            <a:ext cx="350921" cy="41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4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CAC07-897D-624B-A381-4A7CE04D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9B32-CF06-4546-9D65-7B5542F2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74083-9340-424F-84D9-09598381A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76681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A4E2A69-B152-4844-872F-8A038E30D3A5}" type="datetime4">
              <a:rPr lang="en-US" smtClean="0"/>
              <a:pPr/>
              <a:t>January 27,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1045-D75C-7B4C-8C03-477E3378B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0830" y="6356350"/>
            <a:ext cx="8006208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1876-699B-194D-915C-2FC0955A7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474" y="6356350"/>
            <a:ext cx="695325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27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CCBD590-8B57-BA4B-B38C-8C0CF32D72CA}"/>
              </a:ext>
            </a:extLst>
          </p:cNvPr>
          <p:cNvSpPr/>
          <p:nvPr/>
        </p:nvSpPr>
        <p:spPr>
          <a:xfrm>
            <a:off x="0" y="10102"/>
            <a:ext cx="12192000" cy="6847898"/>
          </a:xfrm>
          <a:prstGeom prst="rect">
            <a:avLst/>
          </a:prstGeom>
          <a:solidFill>
            <a:srgbClr val="1435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57460A5E-9E49-B946-972C-FD10EECC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17AD37-17EE-1642-976E-AE8744A4D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6CB72C20-0C26-5A42-A098-17F132DB8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EE116FBA-086E-A648-A739-64AAE503D137}" type="datetime4">
              <a:rPr lang="en-US" smtClean="0"/>
              <a:t>January 27, 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1A80CE7-1819-994F-BC7C-5F6E6171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C515ED4-A185-9A48-80F2-9891FB884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38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57460A5E-9E49-B946-972C-FD10EECC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17AD37-17EE-1642-976E-AE8744A4D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6CB72C20-0C26-5A42-A098-17F132DB8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CF56AF9-E694-F849-B35E-C9DF3C73F738}" type="datetime4">
              <a:rPr lang="en-US" smtClean="0"/>
              <a:t>January 27, 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1A80CE7-1819-994F-BC7C-5F6E6171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C515ED4-A185-9A48-80F2-9891FB884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13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Montserrat SemiBold" panose="000007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accent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CAC07-897D-624B-A381-4A7CE04D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9B32-CF06-4546-9D65-7B5542F2F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74083-9340-424F-84D9-09598381A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76681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2A4E2A69-B152-4844-872F-8A038E30D3A5}" type="datetime4">
              <a:rPr lang="en-US" smtClean="0"/>
              <a:pPr/>
              <a:t>January 27,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1045-D75C-7B4C-8C03-477E3378B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0830" y="6356350"/>
            <a:ext cx="8006208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B1876-699B-194D-915C-2FC0955A7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474" y="6356350"/>
            <a:ext cx="695325" cy="3651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D6F77310-9B5B-C142-8378-6C6FC0F81B6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06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Montserrat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bg2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8A97-5744-DC4F-A0B9-C9D23245F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20" y="1507278"/>
            <a:ext cx="11023600" cy="165576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Women &amp; Minority Business Enterprises </a:t>
            </a:r>
            <a:br>
              <a:rPr lang="en-US" sz="4400" dirty="0"/>
            </a:br>
            <a:r>
              <a:rPr lang="en-US" sz="4400" dirty="0"/>
              <a:t>(WMBE) Dashboard</a:t>
            </a:r>
            <a:endParaRPr lang="en-US" sz="4400" dirty="0">
              <a:latin typeface="Montserrat SemiBold" panose="000007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D192B-5420-5945-BC62-170B4815C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61540"/>
            <a:ext cx="9144000" cy="1655762"/>
          </a:xfrm>
        </p:spPr>
        <p:txBody>
          <a:bodyPr/>
          <a:lstStyle/>
          <a:p>
            <a:r>
              <a:rPr lang="en-US" dirty="0"/>
              <a:t>Carmen Lu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67F40-8205-BE4B-806A-158703451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0" y="4818802"/>
            <a:ext cx="11684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26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A687-8E36-30CE-00A4-76D68274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4FA7-5892-3F18-779B-3B8DEA84C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To monitor our spend and vendor participation with </a:t>
            </a:r>
            <a:r>
              <a:rPr lang="en-US" b="1" dirty="0"/>
              <a:t>Women &amp; Minority Business Enterprises </a:t>
            </a:r>
            <a:r>
              <a:rPr lang="en-US" dirty="0"/>
              <a:t>(</a:t>
            </a:r>
            <a:r>
              <a:rPr lang="en-US" b="1" dirty="0"/>
              <a:t>WMBE</a:t>
            </a:r>
            <a:r>
              <a:rPr lang="en-US" dirty="0"/>
              <a:t>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To give us a clear picture of current performance, historical trends, and areas where we can improve for WMBE program.</a:t>
            </a:r>
          </a:p>
        </p:txBody>
      </p:sp>
    </p:spTree>
    <p:extLst>
      <p:ext uri="{BB962C8B-B14F-4D97-AF65-F5344CB8AC3E}">
        <p14:creationId xmlns:p14="http://schemas.microsoft.com/office/powerpoint/2010/main" val="3956042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1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8EC6-1316-BFFB-5AAC-946F305A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61" y="97277"/>
            <a:ext cx="10839213" cy="639981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88AED4D3-E4CA-0465-D987-EF5A6DF9B0E0}"/>
              </a:ext>
            </a:extLst>
          </p:cNvPr>
          <p:cNvSpPr txBox="1">
            <a:spLocks noGrp="1"/>
          </p:cNvSpPr>
          <p:nvPr>
            <p:ph type="body" sz="quarter" idx="13"/>
          </p:nvPr>
        </p:nvSpPr>
        <p:spPr>
          <a:xfrm>
            <a:off x="6213895" y="487680"/>
            <a:ext cx="5683744" cy="5659120"/>
          </a:xfrm>
        </p:spPr>
        <p:txBody>
          <a:bodyPr rtlCol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1. YTD Summary</a:t>
            </a:r>
          </a:p>
          <a:p>
            <a:pPr marL="0" indent="0">
              <a:buNone/>
            </a:pPr>
            <a:r>
              <a:rPr lang="en-US" sz="1900" dirty="0"/>
              <a:t>A quick overview of the WMBE </a:t>
            </a:r>
            <a:r>
              <a:rPr lang="en-US" sz="1900" b="1" dirty="0"/>
              <a:t>Year-To-Date</a:t>
            </a:r>
            <a:r>
              <a:rPr lang="en-US" sz="1900" dirty="0"/>
              <a:t> progress</a:t>
            </a:r>
            <a:endParaRPr lang="en-US" sz="1900" b="1" dirty="0"/>
          </a:p>
          <a:p>
            <a:endParaRPr lang="en-US" sz="1600" b="1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2. By WMBE Type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900" dirty="0"/>
              <a:t>How each WMBE classification and three main purchasing categories are performing:</a:t>
            </a:r>
          </a:p>
          <a:p>
            <a:pPr lvl="0"/>
            <a:r>
              <a:rPr lang="en-US" sz="1800" b="1" dirty="0"/>
              <a:t> </a:t>
            </a:r>
            <a:r>
              <a:rPr lang="en-US" sz="1800" b="1" dirty="0">
                <a:solidFill>
                  <a:srgbClr val="08171D"/>
                </a:solidFill>
              </a:rPr>
              <a:t>WMBE Classification: </a:t>
            </a:r>
          </a:p>
          <a:p>
            <a:pPr marL="457200" lvl="1" indent="0">
              <a:buNone/>
            </a:pPr>
            <a:r>
              <a:rPr lang="en-US" sz="1800" dirty="0"/>
              <a:t>FD - Federally Disadvantage /</a:t>
            </a:r>
          </a:p>
          <a:p>
            <a:pPr marL="457200" lvl="1" indent="0">
              <a:buNone/>
            </a:pPr>
            <a:r>
              <a:rPr lang="en-US" sz="1800" dirty="0"/>
              <a:t>MO - Minority Owned /</a:t>
            </a:r>
          </a:p>
          <a:p>
            <a:pPr marL="457200" lvl="1" indent="0">
              <a:buNone/>
            </a:pPr>
            <a:r>
              <a:rPr lang="en-US" sz="1800" dirty="0"/>
              <a:t>SBO - Small Business Owned /</a:t>
            </a:r>
          </a:p>
          <a:p>
            <a:pPr marL="457200" lvl="1" indent="0">
              <a:buNone/>
            </a:pPr>
            <a:r>
              <a:rPr lang="en-US" sz="1800" dirty="0"/>
              <a:t>VO - Veteran Owned /</a:t>
            </a:r>
          </a:p>
          <a:p>
            <a:pPr marL="457200" lvl="1" indent="0">
              <a:buNone/>
            </a:pPr>
            <a:r>
              <a:rPr lang="en-US" sz="1800" dirty="0"/>
              <a:t>WO - Woman Owned</a:t>
            </a:r>
          </a:p>
          <a:p>
            <a:r>
              <a:rPr lang="en-US" sz="1800" b="1" dirty="0">
                <a:solidFill>
                  <a:srgbClr val="08171D"/>
                </a:solidFill>
              </a:rPr>
              <a:t>Main Purchasing Categories: </a:t>
            </a:r>
          </a:p>
          <a:p>
            <a:pPr lvl="1"/>
            <a:r>
              <a:rPr lang="en-US" sz="1800" dirty="0"/>
              <a:t>Purchasing</a:t>
            </a:r>
          </a:p>
          <a:p>
            <a:pPr lvl="1"/>
            <a:r>
              <a:rPr lang="en-US" sz="1800" dirty="0"/>
              <a:t>Public Works</a:t>
            </a:r>
          </a:p>
          <a:p>
            <a:pPr lvl="1"/>
            <a:r>
              <a:rPr lang="en-US" sz="1800" dirty="0"/>
              <a:t>Consulting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3. Vendor Analysis</a:t>
            </a:r>
          </a:p>
          <a:p>
            <a:pPr marL="0" indent="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sz="1900" dirty="0"/>
              <a:t>Help us to understand our WMBE vendor participation</a:t>
            </a:r>
            <a:r>
              <a:rPr lang="en-US" sz="2600" dirty="0"/>
              <a:t>.</a:t>
            </a:r>
            <a:endParaRPr lang="en-US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25C11-1AE3-6C94-2374-B7A4F5EF1A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52" t="94667" r="70083" b="-336"/>
          <a:stretch>
            <a:fillRect/>
          </a:stretch>
        </p:blipFill>
        <p:spPr>
          <a:xfrm>
            <a:off x="482693" y="2096100"/>
            <a:ext cx="5495414" cy="89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84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DF82D-4786-9567-4076-58D628B5C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609D-56F3-3F32-934B-301BA2A0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0"/>
            <a:ext cx="10842171" cy="1015317"/>
          </a:xfrm>
        </p:spPr>
        <p:txBody>
          <a:bodyPr anchor="ctr">
            <a:normAutofit/>
          </a:bodyPr>
          <a:lstStyle/>
          <a:p>
            <a:r>
              <a:rPr lang="en-US" dirty="0"/>
              <a:t>Year-to-date Summary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4194C5B-E49C-A681-FE3F-CB8269DB9362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444863" y="906677"/>
            <a:ext cx="11908972" cy="638856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US" dirty="0"/>
              <a:t>This YTD Summary page is focusing to track our WMBE </a:t>
            </a:r>
            <a:r>
              <a:rPr lang="en-US" b="1" dirty="0"/>
              <a:t>YTD</a:t>
            </a:r>
            <a:r>
              <a:rPr lang="en-US" dirty="0"/>
              <a:t> progress.</a:t>
            </a:r>
          </a:p>
          <a:p>
            <a:pPr marL="0" indent="0">
              <a:buNone/>
            </a:pPr>
            <a:endParaRPr lang="en-US" dirty="0"/>
          </a:p>
          <a:p>
            <a:pPr lvl="0">
              <a:spcAft>
                <a:spcPts val="1200"/>
              </a:spcAft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6B5FBF-5ABC-57AF-6A2D-A6401B5D06E6}"/>
              </a:ext>
            </a:extLst>
          </p:cNvPr>
          <p:cNvGrpSpPr/>
          <p:nvPr/>
        </p:nvGrpSpPr>
        <p:grpSpPr>
          <a:xfrm>
            <a:off x="2136684" y="1552572"/>
            <a:ext cx="9010286" cy="5023233"/>
            <a:chOff x="2136684" y="1552572"/>
            <a:chExt cx="9010286" cy="50232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9B2439A-9AA7-0496-C8DC-EE4FCA40A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6684" y="1552572"/>
              <a:ext cx="9010286" cy="5023233"/>
            </a:xfrm>
            <a:prstGeom prst="rect">
              <a:avLst/>
            </a:prstGeom>
            <a:noFill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A6504F-6E65-70EE-FE28-1D7543B9D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2260" y="1674493"/>
              <a:ext cx="650996" cy="148597"/>
            </a:xfrm>
            <a:prstGeom prst="rect">
              <a:avLst/>
            </a:prstGeom>
          </p:spPr>
        </p:pic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3F30B7-11D6-2C2A-DCC2-38D811B6757A}"/>
              </a:ext>
            </a:extLst>
          </p:cNvPr>
          <p:cNvCxnSpPr>
            <a:cxnSpLocks/>
          </p:cNvCxnSpPr>
          <p:nvPr/>
        </p:nvCxnSpPr>
        <p:spPr>
          <a:xfrm flipH="1">
            <a:off x="3811666" y="1885867"/>
            <a:ext cx="525600" cy="26356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B36E7B0-F861-A3F8-9E0D-284F8E50AEED}"/>
              </a:ext>
            </a:extLst>
          </p:cNvPr>
          <p:cNvGrpSpPr/>
          <p:nvPr/>
        </p:nvGrpSpPr>
        <p:grpSpPr>
          <a:xfrm>
            <a:off x="1228850" y="1334745"/>
            <a:ext cx="2582817" cy="2107274"/>
            <a:chOff x="1228850" y="1334745"/>
            <a:chExt cx="2582817" cy="210727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1ECCF7E-0CA2-D1CA-C456-053E3A8F0A5B}"/>
                </a:ext>
              </a:extLst>
            </p:cNvPr>
            <p:cNvGrpSpPr/>
            <p:nvPr/>
          </p:nvGrpSpPr>
          <p:grpSpPr>
            <a:xfrm>
              <a:off x="1228850" y="1334745"/>
              <a:ext cx="2582817" cy="2107274"/>
              <a:chOff x="16419" y="3735409"/>
              <a:chExt cx="2582817" cy="2107274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2457FCA-FF9F-23D3-F7D7-3FEC3F387878}"/>
                  </a:ext>
                </a:extLst>
              </p:cNvPr>
              <p:cNvSpPr/>
              <p:nvPr/>
            </p:nvSpPr>
            <p:spPr>
              <a:xfrm>
                <a:off x="16419" y="3735409"/>
                <a:ext cx="2582817" cy="2107274"/>
              </a:xfrm>
              <a:prstGeom prst="ellipse">
                <a:avLst/>
              </a:prstGeom>
              <a:solidFill>
                <a:schemeClr val="bg2"/>
              </a:solidFill>
              <a:ln w="57150">
                <a:solidFill>
                  <a:srgbClr val="FF0000"/>
                </a:solidFill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ADCE3F9-2E5E-243C-36DC-2BF60A789D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536" y="4288913"/>
                <a:ext cx="2200582" cy="1000265"/>
              </a:xfrm>
              <a:prstGeom prst="rect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74F38CB-BC4D-65D7-6C55-24C267794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70364" y="2142944"/>
              <a:ext cx="1071825" cy="24465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8C9392A-D237-FAFF-50C9-8D3C7EAA623F}"/>
              </a:ext>
            </a:extLst>
          </p:cNvPr>
          <p:cNvSpPr txBox="1"/>
          <p:nvPr/>
        </p:nvSpPr>
        <p:spPr>
          <a:xfrm>
            <a:off x="108507" y="3044293"/>
            <a:ext cx="236037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Latest Transaction Date</a:t>
            </a:r>
          </a:p>
          <a:p>
            <a:r>
              <a:rPr lang="en-US" sz="1400" dirty="0"/>
              <a:t>Data extraction directly from </a:t>
            </a:r>
            <a:r>
              <a:rPr lang="en-US" sz="1400"/>
              <a:t>database, and </a:t>
            </a:r>
            <a:r>
              <a:rPr lang="en-US" sz="1400" dirty="0"/>
              <a:t>can be set to auto-refresh on a schedule.</a:t>
            </a:r>
          </a:p>
          <a:p>
            <a:endParaRPr lang="en-US" sz="1400" dirty="0"/>
          </a:p>
          <a:p>
            <a:r>
              <a:rPr lang="en-US" sz="1400" dirty="0"/>
              <a:t>YTD metrics are calculated through the latest available transaction date.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F0644B8-57D0-8503-58ED-8F7B99A60E81}"/>
              </a:ext>
            </a:extLst>
          </p:cNvPr>
          <p:cNvSpPr txBox="1">
            <a:spLocks/>
          </p:cNvSpPr>
          <p:nvPr/>
        </p:nvSpPr>
        <p:spPr>
          <a:xfrm>
            <a:off x="-3067" y="5101611"/>
            <a:ext cx="3366802" cy="738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12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" grpId="0" uiExpand="1" build="p"/>
      <p:bldP spid="18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D369-A314-2242-31C7-B41D9DFD2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02E8-A46C-43E2-76F0-618133D87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61" y="97277"/>
            <a:ext cx="10839213" cy="639981"/>
          </a:xfrm>
        </p:spPr>
        <p:txBody>
          <a:bodyPr anchor="ctr">
            <a:normAutofit/>
          </a:bodyPr>
          <a:lstStyle/>
          <a:p>
            <a:r>
              <a:rPr lang="en-US" sz="3600" dirty="0"/>
              <a:t>Key Metrics:  Year-to-date summary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FE9007-82D7-1B51-B072-96B2CA451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6" y="2461162"/>
            <a:ext cx="11994728" cy="1935675"/>
          </a:xfrm>
          <a:prstGeom prst="rect">
            <a:avLst/>
          </a:prstGeom>
        </p:spPr>
      </p:pic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1FAD7111-581C-F853-A808-7F81BA92FCAD}"/>
              </a:ext>
            </a:extLst>
          </p:cNvPr>
          <p:cNvSpPr/>
          <p:nvPr/>
        </p:nvSpPr>
        <p:spPr>
          <a:xfrm>
            <a:off x="660750" y="4748915"/>
            <a:ext cx="5628640" cy="1180203"/>
          </a:xfrm>
          <a:prstGeom prst="callout1">
            <a:avLst>
              <a:gd name="adj1" fmla="val -2643"/>
              <a:gd name="adj2" fmla="val 46423"/>
              <a:gd name="adj3" fmla="val -46407"/>
              <a:gd name="adj4" fmla="val 56424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WMBE Spend (YTD)</a:t>
            </a:r>
          </a:p>
          <a:p>
            <a:r>
              <a:rPr lang="en-US" sz="1400" dirty="0"/>
              <a:t>Dollar amounts spent with WMBE vendors YTD.</a:t>
            </a:r>
          </a:p>
          <a:p>
            <a:r>
              <a:rPr lang="en-US" sz="1400" dirty="0"/>
              <a:t>Comparison includes Last Year YTD, Dollar Growth % vs. Last Year YTD, Last Year spend.</a:t>
            </a:r>
          </a:p>
        </p:txBody>
      </p:sp>
      <p:sp>
        <p:nvSpPr>
          <p:cNvPr id="28" name="Callout: Line 27">
            <a:extLst>
              <a:ext uri="{FF2B5EF4-FFF2-40B4-BE49-F238E27FC236}">
                <a16:creationId xmlns:a16="http://schemas.microsoft.com/office/drawing/2014/main" id="{EE93DFE7-CC6F-6303-00A1-6447A82A0BF2}"/>
              </a:ext>
            </a:extLst>
          </p:cNvPr>
          <p:cNvSpPr/>
          <p:nvPr/>
        </p:nvSpPr>
        <p:spPr>
          <a:xfrm>
            <a:off x="294360" y="1008726"/>
            <a:ext cx="5486680" cy="1171480"/>
          </a:xfrm>
          <a:prstGeom prst="borderCallout1">
            <a:avLst>
              <a:gd name="adj1" fmla="val 139649"/>
              <a:gd name="adj2" fmla="val 18884"/>
              <a:gd name="adj3" fmla="val 103785"/>
              <a:gd name="adj4" fmla="val 1430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% WMBE Spend (YTD)</a:t>
            </a:r>
          </a:p>
          <a:p>
            <a:r>
              <a:rPr lang="en-US" sz="1400" dirty="0"/>
              <a:t>What percentage of total spending has gone to WMBE vendors year-to-date.</a:t>
            </a:r>
          </a:p>
          <a:p>
            <a:r>
              <a:rPr lang="en-US" sz="1400" dirty="0"/>
              <a:t>Compared against same day last year's performance and Last Year %.</a:t>
            </a:r>
            <a:endParaRPr lang="en-US" sz="1400" b="1" dirty="0"/>
          </a:p>
        </p:txBody>
      </p:sp>
      <p:sp>
        <p:nvSpPr>
          <p:cNvPr id="29" name="Callout: Line 28">
            <a:extLst>
              <a:ext uri="{FF2B5EF4-FFF2-40B4-BE49-F238E27FC236}">
                <a16:creationId xmlns:a16="http://schemas.microsoft.com/office/drawing/2014/main" id="{60978034-A124-5013-AC0E-4B6BC47287F3}"/>
              </a:ext>
            </a:extLst>
          </p:cNvPr>
          <p:cNvSpPr/>
          <p:nvPr/>
        </p:nvSpPr>
        <p:spPr>
          <a:xfrm>
            <a:off x="6964961" y="1018214"/>
            <a:ext cx="4168613" cy="736749"/>
          </a:xfrm>
          <a:prstGeom prst="borderCallout1">
            <a:avLst>
              <a:gd name="adj1" fmla="val 109240"/>
              <a:gd name="adj2" fmla="val 20619"/>
              <a:gd name="adj3" fmla="val 216766"/>
              <a:gd name="adj4" fmla="val 1182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Total Procurement Spend (YTD)</a:t>
            </a:r>
          </a:p>
          <a:p>
            <a:r>
              <a:rPr lang="en-US" sz="1400" dirty="0"/>
              <a:t>Compared against Last Year YTD, and Last Year.</a:t>
            </a:r>
            <a:endParaRPr lang="en-US" sz="1400" b="1" dirty="0"/>
          </a:p>
        </p:txBody>
      </p:sp>
      <p:sp>
        <p:nvSpPr>
          <p:cNvPr id="32" name="Callout: Line 31">
            <a:extLst>
              <a:ext uri="{FF2B5EF4-FFF2-40B4-BE49-F238E27FC236}">
                <a16:creationId xmlns:a16="http://schemas.microsoft.com/office/drawing/2014/main" id="{C548D00F-1D1A-36D3-5A91-A4D0B3BED6D8}"/>
              </a:ext>
            </a:extLst>
          </p:cNvPr>
          <p:cNvSpPr/>
          <p:nvPr/>
        </p:nvSpPr>
        <p:spPr>
          <a:xfrm>
            <a:off x="7738181" y="4970641"/>
            <a:ext cx="4355183" cy="869145"/>
          </a:xfrm>
          <a:prstGeom prst="borderCallout1">
            <a:avLst>
              <a:gd name="adj1" fmla="val -110957"/>
              <a:gd name="adj2" fmla="val 68060"/>
              <a:gd name="adj3" fmla="val -13532"/>
              <a:gd name="adj4" fmla="val 7046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Average Percentage WMBE Spend</a:t>
            </a:r>
          </a:p>
          <a:p>
            <a:r>
              <a:rPr lang="en-US" sz="1400" dirty="0"/>
              <a:t>Counting last 5 years’ number excluding current year</a:t>
            </a:r>
          </a:p>
        </p:txBody>
      </p:sp>
    </p:spTree>
    <p:extLst>
      <p:ext uri="{BB962C8B-B14F-4D97-AF65-F5344CB8AC3E}">
        <p14:creationId xmlns:p14="http://schemas.microsoft.com/office/powerpoint/2010/main" val="5170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 animBg="1"/>
      <p:bldP spid="28" grpId="0" animBg="1"/>
      <p:bldP spid="29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2F59-222B-D312-D7DB-7229B8CF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FF1BA-BD43-A6AC-6E03-ECB0BFD4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61" y="97277"/>
            <a:ext cx="10839213" cy="639981"/>
          </a:xfrm>
        </p:spPr>
        <p:txBody>
          <a:bodyPr anchor="ctr">
            <a:normAutofit/>
          </a:bodyPr>
          <a:lstStyle/>
          <a:p>
            <a:r>
              <a:rPr lang="en-US" sz="3600" dirty="0"/>
              <a:t>Key Metrics:  Year-to-date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A9904-A568-7346-94C7-BD856E086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64" y="1552353"/>
            <a:ext cx="10089498" cy="3588700"/>
          </a:xfrm>
          <a:prstGeom prst="rect">
            <a:avLst/>
          </a:prstGeom>
        </p:spPr>
      </p:pic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BBEA2220-980A-24FE-BD49-FB3CC3B144DD}"/>
              </a:ext>
            </a:extLst>
          </p:cNvPr>
          <p:cNvSpPr/>
          <p:nvPr/>
        </p:nvSpPr>
        <p:spPr>
          <a:xfrm>
            <a:off x="7299694" y="5293456"/>
            <a:ext cx="4759853" cy="1325383"/>
          </a:xfrm>
          <a:prstGeom prst="borderCallout2">
            <a:avLst>
              <a:gd name="adj1" fmla="val -117916"/>
              <a:gd name="adj2" fmla="val 73236"/>
              <a:gd name="adj3" fmla="val -117663"/>
              <a:gd name="adj4" fmla="val 89259"/>
              <a:gd name="adj5" fmla="val -4330"/>
              <a:gd name="adj6" fmla="val 8920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WMBE Spend &amp; Participation Trend </a:t>
            </a:r>
          </a:p>
          <a:p>
            <a:r>
              <a:rPr lang="en-US" sz="1400" dirty="0"/>
              <a:t>WMBE vs. Non-WMBE spend amount over the year comparison, WMBE % historical performance.</a:t>
            </a:r>
          </a:p>
          <a:p>
            <a:r>
              <a:rPr lang="en-US" sz="1400" dirty="0"/>
              <a:t>Can drill into year or month.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sp>
        <p:nvSpPr>
          <p:cNvPr id="28" name="Callout: Line 27">
            <a:extLst>
              <a:ext uri="{FF2B5EF4-FFF2-40B4-BE49-F238E27FC236}">
                <a16:creationId xmlns:a16="http://schemas.microsoft.com/office/drawing/2014/main" id="{42CBC2CF-1592-B17D-3D87-2970E245590E}"/>
              </a:ext>
            </a:extLst>
          </p:cNvPr>
          <p:cNvSpPr/>
          <p:nvPr/>
        </p:nvSpPr>
        <p:spPr>
          <a:xfrm>
            <a:off x="2325180" y="737257"/>
            <a:ext cx="6270180" cy="757819"/>
          </a:xfrm>
          <a:prstGeom prst="borderCallout1">
            <a:avLst>
              <a:gd name="adj1" fmla="val 155582"/>
              <a:gd name="adj2" fmla="val 14133"/>
              <a:gd name="adj3" fmla="val 95060"/>
              <a:gd name="adj4" fmla="val 2121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WMBE Spend YTD by Main Purchasing Category</a:t>
            </a:r>
          </a:p>
          <a:p>
            <a:r>
              <a:rPr lang="en-US" sz="1400" dirty="0"/>
              <a:t>B</a:t>
            </a:r>
            <a:r>
              <a:rPr lang="en-US" sz="1400"/>
              <a:t>reak </a:t>
            </a:r>
            <a:r>
              <a:rPr lang="en-US" sz="1400" dirty="0"/>
              <a:t>out WMBE spend across Purchasing, Public Works, and Consulting. </a:t>
            </a:r>
          </a:p>
        </p:txBody>
      </p:sp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FC0137D2-229D-9E48-A0C2-60DAD8FD3A81}"/>
              </a:ext>
            </a:extLst>
          </p:cNvPr>
          <p:cNvSpPr/>
          <p:nvPr/>
        </p:nvSpPr>
        <p:spPr>
          <a:xfrm>
            <a:off x="733760" y="5581695"/>
            <a:ext cx="5069490" cy="1000191"/>
          </a:xfrm>
          <a:prstGeom prst="callout1">
            <a:avLst>
              <a:gd name="adj1" fmla="val -4675"/>
              <a:gd name="adj2" fmla="val 32136"/>
              <a:gd name="adj3" fmla="val -53518"/>
              <a:gd name="adj4" fmla="val 3639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WMBE Spend Composition YTD</a:t>
            </a:r>
          </a:p>
          <a:p>
            <a:r>
              <a:rPr lang="en-US" sz="1400" dirty="0"/>
              <a:t>Which WMBE type contribute most to WMBE participation?</a:t>
            </a:r>
          </a:p>
          <a:p>
            <a:r>
              <a:rPr lang="en-US" sz="1400" dirty="0"/>
              <a:t>Note: Each vendor can be multiple WMBE types, so totals exceed 100%.</a:t>
            </a:r>
          </a:p>
        </p:txBody>
      </p:sp>
    </p:spTree>
    <p:extLst>
      <p:ext uri="{BB962C8B-B14F-4D97-AF65-F5344CB8AC3E}">
        <p14:creationId xmlns:p14="http://schemas.microsoft.com/office/powerpoint/2010/main" val="103631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28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118F0-FA98-E3DF-34C6-34D7C2F8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15BD-9DE8-5430-1BD9-C50001D21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61" y="97278"/>
            <a:ext cx="10839213" cy="498146"/>
          </a:xfrm>
        </p:spPr>
        <p:txBody>
          <a:bodyPr anchor="ctr">
            <a:normAutofit fontScale="90000"/>
          </a:bodyPr>
          <a:lstStyle/>
          <a:p>
            <a:r>
              <a:rPr lang="en-US" sz="3600" dirty="0"/>
              <a:t>Key Metrics:  By WMBE Type</a:t>
            </a:r>
          </a:p>
        </p:txBody>
      </p:sp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7911F0AF-C622-FD5D-269D-FB1E201A44C9}"/>
              </a:ext>
            </a:extLst>
          </p:cNvPr>
          <p:cNvSpPr/>
          <p:nvPr/>
        </p:nvSpPr>
        <p:spPr>
          <a:xfrm>
            <a:off x="644477" y="5702511"/>
            <a:ext cx="4933363" cy="1000191"/>
          </a:xfrm>
          <a:prstGeom prst="callout1">
            <a:avLst>
              <a:gd name="adj1" fmla="val -4675"/>
              <a:gd name="adj2" fmla="val 32136"/>
              <a:gd name="adj3" fmla="val -53518"/>
              <a:gd name="adj4" fmla="val 40585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WMBE Spend Composition by WMBE Type</a:t>
            </a:r>
          </a:p>
          <a:p>
            <a:r>
              <a:rPr lang="en-US" sz="1400" dirty="0"/>
              <a:t>Breaks down spend across the five types of WMBEs (FD, MO, SBO, VO, WO) to identify inclusion patterns.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77243D-D1B5-3884-4CFD-C62878F47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726" y="3240669"/>
            <a:ext cx="1804994" cy="221257"/>
          </a:xfrm>
          <a:prstGeom prst="rect">
            <a:avLst/>
          </a:prstGeom>
        </p:spPr>
      </p:pic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FAA1B276-7367-3073-D769-70488CB0A084}"/>
              </a:ext>
            </a:extLst>
          </p:cNvPr>
          <p:cNvSpPr/>
          <p:nvPr/>
        </p:nvSpPr>
        <p:spPr>
          <a:xfrm>
            <a:off x="7299694" y="5760531"/>
            <a:ext cx="4759853" cy="1000191"/>
          </a:xfrm>
          <a:prstGeom prst="borderCallout2">
            <a:avLst>
              <a:gd name="adj1" fmla="val -55196"/>
              <a:gd name="adj2" fmla="val 63854"/>
              <a:gd name="adj3" fmla="val -25177"/>
              <a:gd name="adj4" fmla="val 64688"/>
              <a:gd name="adj5" fmla="val -3267"/>
              <a:gd name="adj6" fmla="val 65082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WMBE </a:t>
            </a:r>
            <a:r>
              <a:rPr lang="en-US" altLang="zh-CN" sz="1400" b="1" dirty="0"/>
              <a:t>Spending </a:t>
            </a:r>
            <a:r>
              <a:rPr lang="en-US" sz="1400" b="1" dirty="0"/>
              <a:t>Historical Trend by WMBE T</a:t>
            </a:r>
            <a:r>
              <a:rPr lang="en-US" altLang="zh-CN" sz="1400" b="1" dirty="0"/>
              <a:t>ype</a:t>
            </a:r>
            <a:endParaRPr lang="en-US" sz="1400" b="1" dirty="0"/>
          </a:p>
          <a:p>
            <a:r>
              <a:rPr lang="en-US" sz="1400" dirty="0"/>
              <a:t>Historical trend visuals showing how the WMBE spending changes across those five types of WMBEs (FD, MO, SBO, VO, WO) </a:t>
            </a:r>
            <a:endParaRPr lang="en-US" sz="1400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92CA3A-F1D8-30E4-8A66-A7CABB626529}"/>
              </a:ext>
            </a:extLst>
          </p:cNvPr>
          <p:cNvGrpSpPr/>
          <p:nvPr/>
        </p:nvGrpSpPr>
        <p:grpSpPr>
          <a:xfrm>
            <a:off x="2335775" y="880610"/>
            <a:ext cx="9819723" cy="4662142"/>
            <a:chOff x="2335775" y="880610"/>
            <a:chExt cx="9819723" cy="466214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4855AE-807A-78A8-55F2-4CFC27D95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551" b="7490"/>
            <a:stretch>
              <a:fillRect/>
            </a:stretch>
          </p:blipFill>
          <p:spPr>
            <a:xfrm>
              <a:off x="2335775" y="883663"/>
              <a:ext cx="9723772" cy="4623858"/>
            </a:xfrm>
            <a:prstGeom prst="rect">
              <a:avLst/>
            </a:prstGeom>
          </p:spPr>
        </p:pic>
        <p:pic>
          <p:nvPicPr>
            <p:cNvPr id="5" name="Picture 4" descr="Chart, bar chart&#10;&#10;AI-generated content may be incorrect.">
              <a:extLst>
                <a:ext uri="{FF2B5EF4-FFF2-40B4-BE49-F238E27FC236}">
                  <a16:creationId xmlns:a16="http://schemas.microsoft.com/office/drawing/2014/main" id="{AAF0F27E-1728-9CAF-E042-8088C7898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28957" y="1195074"/>
              <a:ext cx="3796354" cy="1932063"/>
            </a:xfrm>
            <a:prstGeom prst="rect">
              <a:avLst/>
            </a:prstGeom>
          </p:spPr>
        </p:pic>
        <p:pic>
          <p:nvPicPr>
            <p:cNvPr id="15" name="Picture 14" descr="Chart, histogram&#10;&#10;AI-generated content may be incorrect.">
              <a:extLst>
                <a:ext uri="{FF2B5EF4-FFF2-40B4-BE49-F238E27FC236}">
                  <a16:creationId xmlns:a16="http://schemas.microsoft.com/office/drawing/2014/main" id="{9B2B3B29-9DCE-4889-4E29-837704082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28080" y="1232905"/>
              <a:ext cx="5927418" cy="4309847"/>
            </a:xfrm>
            <a:prstGeom prst="rect">
              <a:avLst/>
            </a:prstGeom>
          </p:spPr>
        </p:pic>
        <p:pic>
          <p:nvPicPr>
            <p:cNvPr id="17" name="Picture 16" descr="Text&#10;&#10;AI-generated content may be incorrect.">
              <a:extLst>
                <a:ext uri="{FF2B5EF4-FFF2-40B4-BE49-F238E27FC236}">
                  <a16:creationId xmlns:a16="http://schemas.microsoft.com/office/drawing/2014/main" id="{7F0D91DC-E602-6291-50F1-E97864B8B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73511" y="880610"/>
              <a:ext cx="2313690" cy="30398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A9DFB36-1011-F9A6-E8B0-1BEBAD1CEB61}"/>
              </a:ext>
            </a:extLst>
          </p:cNvPr>
          <p:cNvGrpSpPr/>
          <p:nvPr/>
        </p:nvGrpSpPr>
        <p:grpSpPr>
          <a:xfrm>
            <a:off x="6007394" y="132646"/>
            <a:ext cx="4890977" cy="715786"/>
            <a:chOff x="6007394" y="132646"/>
            <a:chExt cx="4890977" cy="715786"/>
          </a:xfrm>
        </p:grpSpPr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B930C3D5-9431-943C-2631-022017D7D3B2}"/>
                </a:ext>
              </a:extLst>
            </p:cNvPr>
            <p:cNvSpPr/>
            <p:nvPr/>
          </p:nvSpPr>
          <p:spPr>
            <a:xfrm rot="5400000">
              <a:off x="8326378" y="-1723561"/>
              <a:ext cx="253009" cy="4890977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4419824-3402-DA81-A1DA-B8CDDFA4D630}"/>
                </a:ext>
              </a:extLst>
            </p:cNvPr>
            <p:cNvSpPr/>
            <p:nvPr/>
          </p:nvSpPr>
          <p:spPr>
            <a:xfrm>
              <a:off x="6617048" y="132646"/>
              <a:ext cx="4153733" cy="462776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/>
                <a:t>Three interactive filters</a:t>
              </a:r>
            </a:p>
            <a:p>
              <a:r>
                <a:rPr lang="en-US" sz="1400" b="1" dirty="0"/>
                <a:t> </a:t>
              </a:r>
              <a:r>
                <a:rPr lang="en-US" sz="1400" dirty="0"/>
                <a:t>by year, main purchasing category, WMBE type</a:t>
              </a:r>
            </a:p>
          </p:txBody>
        </p:sp>
      </p:grpSp>
      <p:sp>
        <p:nvSpPr>
          <p:cNvPr id="28" name="Callout: Line 27">
            <a:extLst>
              <a:ext uri="{FF2B5EF4-FFF2-40B4-BE49-F238E27FC236}">
                <a16:creationId xmlns:a16="http://schemas.microsoft.com/office/drawing/2014/main" id="{73A6CEFA-4878-ED74-897D-9646D62DEF63}"/>
              </a:ext>
            </a:extLst>
          </p:cNvPr>
          <p:cNvSpPr/>
          <p:nvPr/>
        </p:nvSpPr>
        <p:spPr>
          <a:xfrm>
            <a:off x="74427" y="1443728"/>
            <a:ext cx="2261347" cy="2841193"/>
          </a:xfrm>
          <a:prstGeom prst="borderCallout1">
            <a:avLst>
              <a:gd name="adj1" fmla="val 34540"/>
              <a:gd name="adj2" fmla="val 118327"/>
              <a:gd name="adj3" fmla="val 43425"/>
              <a:gd name="adj4" fmla="val 10068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 dirty="0"/>
              <a:t>WMBE Spend Breakdown by Main Purchasing Category</a:t>
            </a:r>
          </a:p>
          <a:p>
            <a:endParaRPr lang="en-US" sz="1300" b="1" dirty="0"/>
          </a:p>
          <a:p>
            <a:r>
              <a:rPr lang="en-US" sz="1400" dirty="0"/>
              <a:t>Segments WMBE spend by main procurement categories</a:t>
            </a:r>
            <a:r>
              <a:rPr lang="en-US" sz="1400" b="1" dirty="0"/>
              <a:t>: </a:t>
            </a:r>
            <a:r>
              <a:rPr lang="en-US" sz="1400" b="1" u="sng" dirty="0"/>
              <a:t>Purchasing</a:t>
            </a:r>
            <a:r>
              <a:rPr lang="en-US" sz="1400" b="1" dirty="0"/>
              <a:t>, </a:t>
            </a:r>
            <a:r>
              <a:rPr lang="en-US" sz="1400" b="1" u="sng" dirty="0"/>
              <a:t>Consulting</a:t>
            </a:r>
            <a:r>
              <a:rPr lang="en-US" sz="1400" b="1" dirty="0"/>
              <a:t>, </a:t>
            </a:r>
            <a:r>
              <a:rPr lang="en-US" sz="1400" b="1" u="sng" dirty="0"/>
              <a:t>Public Works</a:t>
            </a:r>
            <a:r>
              <a:rPr lang="en-US" sz="1400" b="1" dirty="0"/>
              <a:t>,</a:t>
            </a:r>
            <a:r>
              <a:rPr lang="en-US" sz="1400" dirty="0"/>
              <a:t> and Other, showing which business areas are most engaged with diverse vendors.</a:t>
            </a:r>
          </a:p>
        </p:txBody>
      </p:sp>
    </p:spTree>
    <p:extLst>
      <p:ext uri="{BB962C8B-B14F-4D97-AF65-F5344CB8AC3E}">
        <p14:creationId xmlns:p14="http://schemas.microsoft.com/office/powerpoint/2010/main" val="112618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 animBg="1"/>
      <p:bldP spid="3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A2C17-7217-0393-EACA-5EEE7358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9644-0882-9CFE-28E5-184DEAA5C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67" y="97278"/>
            <a:ext cx="10839213" cy="498146"/>
          </a:xfrm>
        </p:spPr>
        <p:txBody>
          <a:bodyPr anchor="ctr">
            <a:normAutofit fontScale="90000"/>
          </a:bodyPr>
          <a:lstStyle/>
          <a:p>
            <a:r>
              <a:rPr lang="en-US" sz="3600" dirty="0"/>
              <a:t>Key Metrics:  Vendor Analysis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04605A-EECF-5A3C-C9E8-9B078332CB76}"/>
              </a:ext>
            </a:extLst>
          </p:cNvPr>
          <p:cNvGrpSpPr/>
          <p:nvPr/>
        </p:nvGrpSpPr>
        <p:grpSpPr>
          <a:xfrm>
            <a:off x="960780" y="741076"/>
            <a:ext cx="10270440" cy="5375848"/>
            <a:chOff x="960780" y="741076"/>
            <a:chExt cx="10270440" cy="537584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783F813-7068-6027-A888-0CA6CAED9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780" y="741076"/>
              <a:ext cx="10270440" cy="5375848"/>
            </a:xfrm>
            <a:prstGeom prst="rect">
              <a:avLst/>
            </a:prstGeom>
          </p:spPr>
        </p:pic>
        <p:pic>
          <p:nvPicPr>
            <p:cNvPr id="4" name="Picture 3" descr="Graphical user interface, text, application, email&#10;&#10;AI-generated content may be incorrect.">
              <a:extLst>
                <a:ext uri="{FF2B5EF4-FFF2-40B4-BE49-F238E27FC236}">
                  <a16:creationId xmlns:a16="http://schemas.microsoft.com/office/drawing/2014/main" id="{7DD3A424-C34C-3C57-6E53-8FB825043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387"/>
            <a:stretch>
              <a:fillRect/>
            </a:stretch>
          </p:blipFill>
          <p:spPr>
            <a:xfrm>
              <a:off x="4632959" y="2345283"/>
              <a:ext cx="6598261" cy="1935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264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0003-D0A7-370F-660F-19ABD6E3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5570-550C-6F83-00F4-B763BECA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61" y="97277"/>
            <a:ext cx="10839213" cy="639981"/>
          </a:xfrm>
        </p:spPr>
        <p:txBody>
          <a:bodyPr anchor="ctr">
            <a:normAutofit/>
          </a:bodyPr>
          <a:lstStyle/>
          <a:p>
            <a:r>
              <a:rPr lang="en-US" sz="3600" dirty="0"/>
              <a:t>Key Metrics:  Vendor Analysis</a:t>
            </a:r>
          </a:p>
        </p:txBody>
      </p:sp>
      <p:sp>
        <p:nvSpPr>
          <p:cNvPr id="28" name="Callout: Line 27">
            <a:extLst>
              <a:ext uri="{FF2B5EF4-FFF2-40B4-BE49-F238E27FC236}">
                <a16:creationId xmlns:a16="http://schemas.microsoft.com/office/drawing/2014/main" id="{5BE8E0D8-5267-19A9-4737-99A95E2CCC03}"/>
              </a:ext>
            </a:extLst>
          </p:cNvPr>
          <p:cNvSpPr/>
          <p:nvPr/>
        </p:nvSpPr>
        <p:spPr>
          <a:xfrm>
            <a:off x="294361" y="1008726"/>
            <a:ext cx="4245742" cy="1171480"/>
          </a:xfrm>
          <a:prstGeom prst="borderCallout1">
            <a:avLst>
              <a:gd name="adj1" fmla="val 139649"/>
              <a:gd name="adj2" fmla="val 18884"/>
              <a:gd name="adj3" fmla="val 103785"/>
              <a:gd name="adj4" fmla="val 1430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1400" b="1" dirty="0"/>
              <a:t>Total WMBE Vendor YTD</a:t>
            </a:r>
          </a:p>
          <a:p>
            <a:r>
              <a:rPr lang="en-US" sz="1400" dirty="0"/>
              <a:t>Shows how many WMBE vendors we've engaged this year so far</a:t>
            </a:r>
          </a:p>
          <a:p>
            <a:r>
              <a:rPr lang="en-US" sz="1400" dirty="0"/>
              <a:t>compared against last year</a:t>
            </a:r>
          </a:p>
        </p:txBody>
      </p:sp>
      <p:sp>
        <p:nvSpPr>
          <p:cNvPr id="29" name="Callout: Line 28">
            <a:extLst>
              <a:ext uri="{FF2B5EF4-FFF2-40B4-BE49-F238E27FC236}">
                <a16:creationId xmlns:a16="http://schemas.microsoft.com/office/drawing/2014/main" id="{85C568E4-237F-D892-49FE-68381F0D4BD3}"/>
              </a:ext>
            </a:extLst>
          </p:cNvPr>
          <p:cNvSpPr/>
          <p:nvPr/>
        </p:nvSpPr>
        <p:spPr>
          <a:xfrm>
            <a:off x="5498111" y="1186302"/>
            <a:ext cx="4089119" cy="736749"/>
          </a:xfrm>
          <a:prstGeom prst="borderCallout1">
            <a:avLst>
              <a:gd name="adj1" fmla="val 109240"/>
              <a:gd name="adj2" fmla="val 20619"/>
              <a:gd name="adj3" fmla="val 201252"/>
              <a:gd name="adj4" fmla="val 1997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Percentage of WMBE Vendors</a:t>
            </a:r>
          </a:p>
          <a:p>
            <a:r>
              <a:rPr lang="en-US" sz="1400" dirty="0"/>
              <a:t>Showing % of Vendors that are WMBE</a:t>
            </a:r>
            <a:endParaRPr lang="en-US" sz="1400" b="1" dirty="0"/>
          </a:p>
        </p:txBody>
      </p:sp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008AD555-8F6B-78B7-2656-588A569F4349}"/>
              </a:ext>
            </a:extLst>
          </p:cNvPr>
          <p:cNvSpPr/>
          <p:nvPr/>
        </p:nvSpPr>
        <p:spPr>
          <a:xfrm>
            <a:off x="660750" y="4493430"/>
            <a:ext cx="2780876" cy="781269"/>
          </a:xfrm>
          <a:prstGeom prst="callout1">
            <a:avLst>
              <a:gd name="adj1" fmla="val 1581"/>
              <a:gd name="adj2" fmla="val 83045"/>
              <a:gd name="adj3" fmla="val -50027"/>
              <a:gd name="adj4" fmla="val 99121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Total Vendors YTD</a:t>
            </a:r>
          </a:p>
          <a:p>
            <a:r>
              <a:rPr lang="en-US" sz="1400" dirty="0"/>
              <a:t>Based on all procurement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1E684C-0937-B4D3-02D0-532ECF583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18"/>
          <a:stretch>
            <a:fillRect/>
          </a:stretch>
        </p:blipFill>
        <p:spPr>
          <a:xfrm>
            <a:off x="216272" y="2602993"/>
            <a:ext cx="11759455" cy="1616592"/>
          </a:xfrm>
          <a:prstGeom prst="rect">
            <a:avLst/>
          </a:prstGeom>
        </p:spPr>
      </p:pic>
      <p:sp>
        <p:nvSpPr>
          <p:cNvPr id="32" name="Callout: Line 31">
            <a:extLst>
              <a:ext uri="{FF2B5EF4-FFF2-40B4-BE49-F238E27FC236}">
                <a16:creationId xmlns:a16="http://schemas.microsoft.com/office/drawing/2014/main" id="{3B45E313-DEAA-7FE7-1AAD-EF9E898A694F}"/>
              </a:ext>
            </a:extLst>
          </p:cNvPr>
          <p:cNvSpPr/>
          <p:nvPr/>
        </p:nvSpPr>
        <p:spPr>
          <a:xfrm>
            <a:off x="4736596" y="4567288"/>
            <a:ext cx="3419902" cy="1700162"/>
          </a:xfrm>
          <a:prstGeom prst="borderCallout1">
            <a:avLst>
              <a:gd name="adj1" fmla="val -23886"/>
              <a:gd name="adj2" fmla="val 90729"/>
              <a:gd name="adj3" fmla="val -2605"/>
              <a:gd name="adj4" fmla="val 85013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New WMBE Vendors YTD (vs. Last year)</a:t>
            </a:r>
          </a:p>
          <a:p>
            <a:r>
              <a:rPr lang="en-US" sz="1400" dirty="0"/>
              <a:t>This shows the number of WMBE vendors that have done business with the City this year but had no business with us last year.</a:t>
            </a:r>
          </a:p>
          <a:p>
            <a:r>
              <a:rPr lang="en-US" sz="1400" dirty="0"/>
              <a:t>Measures how well the City is attracting new WMBE businesses</a:t>
            </a:r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BBE82689-3171-7731-1EAB-50FF78D7161A}"/>
              </a:ext>
            </a:extLst>
          </p:cNvPr>
          <p:cNvSpPr/>
          <p:nvPr/>
        </p:nvSpPr>
        <p:spPr>
          <a:xfrm>
            <a:off x="8835674" y="4545868"/>
            <a:ext cx="3140053" cy="2007332"/>
          </a:xfrm>
          <a:prstGeom prst="borderCallout1">
            <a:avLst>
              <a:gd name="adj1" fmla="val -19525"/>
              <a:gd name="adj2" fmla="val 64551"/>
              <a:gd name="adj3" fmla="val -2238"/>
              <a:gd name="adj4" fmla="val 6759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Lost WMBE Vendors YTD (vs. Last year)</a:t>
            </a:r>
          </a:p>
          <a:p>
            <a:r>
              <a:rPr lang="en-US" sz="1400" dirty="0"/>
              <a:t>WMBE vendors who did business with the City last year but have </a:t>
            </a:r>
            <a:r>
              <a:rPr lang="en-US" sz="1400" i="1" dirty="0"/>
              <a:t>not</a:t>
            </a:r>
            <a:r>
              <a:rPr lang="en-US" sz="1400" dirty="0"/>
              <a:t> done any business this year.</a:t>
            </a:r>
          </a:p>
          <a:p>
            <a:r>
              <a:rPr lang="en-US" altLang="zh-CN" sz="1400" dirty="0"/>
              <a:t>Indicates</a:t>
            </a:r>
            <a:r>
              <a:rPr lang="en-US" sz="1400" dirty="0"/>
              <a:t> how many previously engaged WMBE vendors are </a:t>
            </a:r>
            <a:r>
              <a:rPr lang="en-US" sz="1400" i="1" dirty="0"/>
              <a:t>dropping off</a:t>
            </a:r>
            <a:r>
              <a:rPr lang="en-US" sz="1400" dirty="0"/>
              <a:t>. (Trigger us to follow up to see any barriers )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58828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 animBg="1"/>
      <p:bldP spid="29" grpId="0" animBg="1"/>
      <p:bldP spid="21" grpId="0" animBg="1"/>
      <p:bldP spid="32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C231-1CE2-BB3A-E5B8-D6084F5B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7B10-4EB0-0AEB-2EA7-16B1F95F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67" y="97278"/>
            <a:ext cx="10839213" cy="498146"/>
          </a:xfrm>
        </p:spPr>
        <p:txBody>
          <a:bodyPr anchor="ctr">
            <a:normAutofit fontScale="90000"/>
          </a:bodyPr>
          <a:lstStyle/>
          <a:p>
            <a:r>
              <a:rPr lang="en-US" sz="3600" dirty="0"/>
              <a:t>Key Metrics:  Vendor Analysis</a:t>
            </a:r>
          </a:p>
        </p:txBody>
      </p:sp>
      <p:sp>
        <p:nvSpPr>
          <p:cNvPr id="28" name="Callout: Line 27">
            <a:extLst>
              <a:ext uri="{FF2B5EF4-FFF2-40B4-BE49-F238E27FC236}">
                <a16:creationId xmlns:a16="http://schemas.microsoft.com/office/drawing/2014/main" id="{72A5CFD2-1D29-D2BD-7DC9-3D25B828EAA5}"/>
              </a:ext>
            </a:extLst>
          </p:cNvPr>
          <p:cNvSpPr/>
          <p:nvPr/>
        </p:nvSpPr>
        <p:spPr>
          <a:xfrm>
            <a:off x="198667" y="1253229"/>
            <a:ext cx="2427693" cy="1585222"/>
          </a:xfrm>
          <a:prstGeom prst="borderCallout1">
            <a:avLst>
              <a:gd name="adj1" fmla="val 15690"/>
              <a:gd name="adj2" fmla="val 118287"/>
              <a:gd name="adj3" fmla="val 21300"/>
              <a:gd name="adj4" fmla="val 102048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/>
              <a:t>WMBE Ve</a:t>
            </a:r>
            <a:r>
              <a:rPr lang="en-US" altLang="zh-CN" sz="1300" b="1" dirty="0"/>
              <a:t>ndor Count and Percentage</a:t>
            </a:r>
          </a:p>
          <a:p>
            <a:r>
              <a:rPr lang="en-US" sz="1400" dirty="0"/>
              <a:t>Year-over-year changes in both the count of WMBE vendors and their percentage of the total vendor base.</a:t>
            </a:r>
            <a:endParaRPr lang="en-US" sz="1300" dirty="0"/>
          </a:p>
        </p:txBody>
      </p:sp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07806D18-BD32-2004-CA4D-44F48A327501}"/>
              </a:ext>
            </a:extLst>
          </p:cNvPr>
          <p:cNvSpPr/>
          <p:nvPr/>
        </p:nvSpPr>
        <p:spPr>
          <a:xfrm>
            <a:off x="8734424" y="4201794"/>
            <a:ext cx="3267075" cy="1783269"/>
          </a:xfrm>
          <a:prstGeom prst="callout1">
            <a:avLst>
              <a:gd name="adj1" fmla="val 6541"/>
              <a:gd name="adj2" fmla="val -226"/>
              <a:gd name="adj3" fmla="val 11646"/>
              <a:gd name="adj4" fmla="val -18599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b="1" dirty="0"/>
              <a:t>WMBE Top 10 Vendors</a:t>
            </a:r>
          </a:p>
          <a:p>
            <a:r>
              <a:rPr lang="en-US" sz="1400" dirty="0"/>
              <a:t>A ranked list to recognize </a:t>
            </a:r>
            <a:r>
              <a:rPr lang="en-US" altLang="zh-CN" sz="1400" dirty="0"/>
              <a:t>high-impact</a:t>
            </a:r>
            <a:r>
              <a:rPr lang="en-US" sz="1400" dirty="0"/>
              <a:t> WMBE Vendors by spend.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6B35-5AF4-D7BB-78B5-05E0CCEF4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220" y="732096"/>
            <a:ext cx="500810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0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528B6-ECBD-7EF5-B937-9179BF85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9D3B504-5C59-69F5-983D-2BF574654373}"/>
              </a:ext>
            </a:extLst>
          </p:cNvPr>
          <p:cNvGrpSpPr/>
          <p:nvPr/>
        </p:nvGrpSpPr>
        <p:grpSpPr>
          <a:xfrm>
            <a:off x="4769244" y="261078"/>
            <a:ext cx="7331316" cy="5711055"/>
            <a:chOff x="4860684" y="504825"/>
            <a:chExt cx="7331316" cy="571105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0187A56-CD70-EB53-6C99-D08357F34ECA}"/>
                </a:ext>
              </a:extLst>
            </p:cNvPr>
            <p:cNvGrpSpPr/>
            <p:nvPr/>
          </p:nvGrpSpPr>
          <p:grpSpPr>
            <a:xfrm>
              <a:off x="4881045" y="504825"/>
              <a:ext cx="7310955" cy="5666015"/>
              <a:chOff x="4881045" y="504825"/>
              <a:chExt cx="7310955" cy="5666015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9208E4F-2FAD-5C7D-F547-58E5FA2768BE}"/>
                  </a:ext>
                </a:extLst>
              </p:cNvPr>
              <p:cNvGrpSpPr/>
              <p:nvPr/>
            </p:nvGrpSpPr>
            <p:grpSpPr>
              <a:xfrm>
                <a:off x="4881045" y="504825"/>
                <a:ext cx="7310955" cy="5666015"/>
                <a:chOff x="2290245" y="1026793"/>
                <a:chExt cx="6847443" cy="524065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F4A4CC38-4D24-A055-2900-9F969098A7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90245" y="2114550"/>
                  <a:ext cx="6847443" cy="4152900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2029B380-4EAC-C2D2-1A36-0D7570582F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498111" y="1026793"/>
                  <a:ext cx="3639577" cy="1087757"/>
                </a:xfrm>
                <a:prstGeom prst="rect">
                  <a:avLst/>
                </a:prstGeom>
              </p:spPr>
            </p:pic>
          </p:grpSp>
          <p:pic>
            <p:nvPicPr>
              <p:cNvPr id="3" name="Picture 2" descr="Graphical user interface, text, application, email&#10;&#10;AI-generated content may be incorrect.">
                <a:extLst>
                  <a:ext uri="{FF2B5EF4-FFF2-40B4-BE49-F238E27FC236}">
                    <a16:creationId xmlns:a16="http://schemas.microsoft.com/office/drawing/2014/main" id="{28C203A4-BF0B-26B8-3450-D75C10BE8E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1387"/>
              <a:stretch>
                <a:fillRect/>
              </a:stretch>
            </p:blipFill>
            <p:spPr>
              <a:xfrm>
                <a:off x="4881045" y="1990254"/>
                <a:ext cx="7310955" cy="2144669"/>
              </a:xfrm>
              <a:prstGeom prst="rect">
                <a:avLst/>
              </a:prstGeom>
            </p:spPr>
          </p:pic>
        </p:grpSp>
        <p:pic>
          <p:nvPicPr>
            <p:cNvPr id="14" name="Picture 13" descr="Table&#10;&#10;AI-generated content may be incorrect.">
              <a:extLst>
                <a:ext uri="{FF2B5EF4-FFF2-40B4-BE49-F238E27FC236}">
                  <a16:creationId xmlns:a16="http://schemas.microsoft.com/office/drawing/2014/main" id="{13967038-C53B-BFB3-FFCC-74AA5FAE6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60684" y="4089883"/>
              <a:ext cx="7331316" cy="212599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54D2B1-DFCE-F3F6-3F51-2548038F3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61" y="97277"/>
            <a:ext cx="10839213" cy="639981"/>
          </a:xfrm>
        </p:spPr>
        <p:txBody>
          <a:bodyPr anchor="ctr">
            <a:normAutofit/>
          </a:bodyPr>
          <a:lstStyle/>
          <a:p>
            <a:r>
              <a:rPr lang="en-US" sz="3600" dirty="0"/>
              <a:t>Key Metrics:  Vendor Analysis</a:t>
            </a:r>
          </a:p>
        </p:txBody>
      </p:sp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6E2A818C-DB0C-4960-FF37-D3DD36AFA855}"/>
              </a:ext>
            </a:extLst>
          </p:cNvPr>
          <p:cNvSpPr/>
          <p:nvPr/>
        </p:nvSpPr>
        <p:spPr>
          <a:xfrm>
            <a:off x="627736" y="4304778"/>
            <a:ext cx="3582314" cy="1544496"/>
          </a:xfrm>
          <a:prstGeom prst="callout1">
            <a:avLst>
              <a:gd name="adj1" fmla="val 39789"/>
              <a:gd name="adj2" fmla="val 99732"/>
              <a:gd name="adj3" fmla="val 37200"/>
              <a:gd name="adj4" fmla="val 124076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</a:t>
            </a:r>
            <a:r>
              <a:rPr lang="en-US" altLang="zh-CN" sz="1400" b="1" dirty="0"/>
              <a:t>nsaction Detail Table</a:t>
            </a:r>
            <a:endParaRPr lang="en-US" sz="1400" b="1" dirty="0"/>
          </a:p>
          <a:p>
            <a:r>
              <a:rPr lang="en-US" sz="1400" dirty="0"/>
              <a:t>An interactive table allows drilling down into all individual transactions by vendor, including Transaction date, Amount, PO number, Vendor’s WMBE types.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B02E904-18C1-8F11-5214-D73D46128881}"/>
              </a:ext>
            </a:extLst>
          </p:cNvPr>
          <p:cNvGrpSpPr/>
          <p:nvPr/>
        </p:nvGrpSpPr>
        <p:grpSpPr>
          <a:xfrm>
            <a:off x="4747393" y="301718"/>
            <a:ext cx="7353167" cy="5744444"/>
            <a:chOff x="4776709" y="267858"/>
            <a:chExt cx="7353167" cy="574444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340FB16-5EF2-075C-7E72-86FC97463184}"/>
                </a:ext>
              </a:extLst>
            </p:cNvPr>
            <p:cNvGrpSpPr/>
            <p:nvPr/>
          </p:nvGrpSpPr>
          <p:grpSpPr>
            <a:xfrm>
              <a:off x="4825125" y="267858"/>
              <a:ext cx="7256336" cy="3459190"/>
              <a:chOff x="4825125" y="486955"/>
              <a:chExt cx="7256336" cy="3459190"/>
            </a:xfrm>
          </p:grpSpPr>
          <p:pic>
            <p:nvPicPr>
              <p:cNvPr id="9" name="Picture 8" descr="Chart&#10;&#10;AI-generated content may be incorrect.">
                <a:extLst>
                  <a:ext uri="{FF2B5EF4-FFF2-40B4-BE49-F238E27FC236}">
                    <a16:creationId xmlns:a16="http://schemas.microsoft.com/office/drawing/2014/main" id="{9D6086D4-930D-E4FA-F855-2BC413FFB2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25125" y="1643236"/>
                <a:ext cx="7256336" cy="2302909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B48A035-8F62-5122-01AB-4F4626D3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74204" y="486955"/>
                <a:ext cx="2514951" cy="333422"/>
              </a:xfrm>
              <a:prstGeom prst="rect">
                <a:avLst/>
              </a:prstGeom>
            </p:spPr>
          </p:pic>
        </p:grpSp>
        <p:pic>
          <p:nvPicPr>
            <p:cNvPr id="17" name="Picture 16" descr="Table&#10;&#10;AI-generated content may be incorrect.">
              <a:extLst>
                <a:ext uri="{FF2B5EF4-FFF2-40B4-BE49-F238E27FC236}">
                  <a16:creationId xmlns:a16="http://schemas.microsoft.com/office/drawing/2014/main" id="{D90D40FD-49CA-89A5-3427-25A6B84C5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76709" y="3772089"/>
              <a:ext cx="7353167" cy="2240213"/>
            </a:xfrm>
            <a:prstGeom prst="rect">
              <a:avLst/>
            </a:prstGeom>
          </p:spPr>
        </p:pic>
      </p:grpSp>
      <p:sp>
        <p:nvSpPr>
          <p:cNvPr id="28" name="Callout: Line 27">
            <a:extLst>
              <a:ext uri="{FF2B5EF4-FFF2-40B4-BE49-F238E27FC236}">
                <a16:creationId xmlns:a16="http://schemas.microsoft.com/office/drawing/2014/main" id="{9077CE46-DBF9-3896-6FA5-3EF7D22926BC}"/>
              </a:ext>
            </a:extLst>
          </p:cNvPr>
          <p:cNvSpPr/>
          <p:nvPr/>
        </p:nvSpPr>
        <p:spPr>
          <a:xfrm>
            <a:off x="399136" y="1323051"/>
            <a:ext cx="4203344" cy="1544496"/>
          </a:xfrm>
          <a:prstGeom prst="borderCallout1">
            <a:avLst>
              <a:gd name="adj1" fmla="val 27143"/>
              <a:gd name="adj2" fmla="val 106024"/>
              <a:gd name="adj3" fmla="val 11224"/>
              <a:gd name="adj4" fmla="val 10028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WMBE Vendor Spend History Visuals and Search bar</a:t>
            </a:r>
          </a:p>
          <a:p>
            <a:r>
              <a:rPr lang="en-US" sz="1400" dirty="0"/>
              <a:t>By searching vendor name, we can see vendor’s historical contract amount, and year-over-year trends in spending and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40104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86C2-92BD-84F3-4EC6-E08EA522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148" y="1749168"/>
            <a:ext cx="4363492" cy="2326704"/>
          </a:xfrm>
        </p:spPr>
        <p:txBody>
          <a:bodyPr>
            <a:normAutofit/>
          </a:bodyPr>
          <a:lstStyle/>
          <a:p>
            <a:r>
              <a:rPr lang="en-US" sz="4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7272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heme1">
  <a:themeElements>
    <a:clrScheme name="COB">
      <a:dk1>
        <a:srgbClr val="08171D"/>
      </a:dk1>
      <a:lt1>
        <a:srgbClr val="FFFFFF"/>
      </a:lt1>
      <a:dk2>
        <a:srgbClr val="343333"/>
      </a:dk2>
      <a:lt2>
        <a:srgbClr val="E7E6E6"/>
      </a:lt2>
      <a:accent1>
        <a:srgbClr val="00619A"/>
      </a:accent1>
      <a:accent2>
        <a:srgbClr val="4E9EBC"/>
      </a:accent2>
      <a:accent3>
        <a:srgbClr val="BCE783"/>
      </a:accent3>
      <a:accent4>
        <a:srgbClr val="5CBEE2"/>
      </a:accent4>
      <a:accent5>
        <a:srgbClr val="143641"/>
      </a:accent5>
      <a:accent6>
        <a:srgbClr val="70AD47"/>
      </a:accent6>
      <a:hlink>
        <a:srgbClr val="00619A"/>
      </a:hlink>
      <a:folHlink>
        <a:srgbClr val="93468B"/>
      </a:folHlink>
    </a:clrScheme>
    <a:fontScheme name="COB fonts">
      <a:majorFont>
        <a:latin typeface="Montserrat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9F6FDEE-750A-4ABD-8441-11971B102ED8}" vid="{AC3A3778-35F2-43D4-9A35-458693912026}"/>
    </a:ext>
  </a:extLst>
</a:theme>
</file>

<file path=ppt/theme/theme2.xml><?xml version="1.0" encoding="utf-8"?>
<a:theme xmlns:a="http://schemas.openxmlformats.org/drawingml/2006/main" name="2_COB Theme">
  <a:themeElements>
    <a:clrScheme name="City of Bellevue custom">
      <a:dk1>
        <a:srgbClr val="08171D"/>
      </a:dk1>
      <a:lt1>
        <a:srgbClr val="FFFFFF"/>
      </a:lt1>
      <a:dk2>
        <a:srgbClr val="343333"/>
      </a:dk2>
      <a:lt2>
        <a:srgbClr val="E7E6E6"/>
      </a:lt2>
      <a:accent1>
        <a:srgbClr val="00619A"/>
      </a:accent1>
      <a:accent2>
        <a:srgbClr val="4E9EBC"/>
      </a:accent2>
      <a:accent3>
        <a:srgbClr val="BCE783"/>
      </a:accent3>
      <a:accent4>
        <a:srgbClr val="5CBEE2"/>
      </a:accent4>
      <a:accent5>
        <a:srgbClr val="143641"/>
      </a:accent5>
      <a:accent6>
        <a:srgbClr val="70AD47"/>
      </a:accent6>
      <a:hlink>
        <a:srgbClr val="00619A"/>
      </a:hlink>
      <a:folHlink>
        <a:srgbClr val="93468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4E02A4D8-6141-3747-B814-632B94D4F485}"/>
    </a:ext>
  </a:extLst>
</a:theme>
</file>

<file path=ppt/theme/theme3.xml><?xml version="1.0" encoding="utf-8"?>
<a:theme xmlns:a="http://schemas.openxmlformats.org/drawingml/2006/main" name="3_COB Theme">
  <a:themeElements>
    <a:clrScheme name="Custom 1">
      <a:dk1>
        <a:srgbClr val="08171D"/>
      </a:dk1>
      <a:lt1>
        <a:srgbClr val="FFFFFF"/>
      </a:lt1>
      <a:dk2>
        <a:srgbClr val="343333"/>
      </a:dk2>
      <a:lt2>
        <a:srgbClr val="E7E6E6"/>
      </a:lt2>
      <a:accent1>
        <a:srgbClr val="00619A"/>
      </a:accent1>
      <a:accent2>
        <a:srgbClr val="4E9EBC"/>
      </a:accent2>
      <a:accent3>
        <a:srgbClr val="BBE783"/>
      </a:accent3>
      <a:accent4>
        <a:srgbClr val="5CBEE2"/>
      </a:accent4>
      <a:accent5>
        <a:srgbClr val="143641"/>
      </a:accent5>
      <a:accent6>
        <a:srgbClr val="70AD47"/>
      </a:accent6>
      <a:hlink>
        <a:srgbClr val="00619A"/>
      </a:hlink>
      <a:folHlink>
        <a:srgbClr val="93468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1DE60759-C333-044E-88B4-75358CC43F41}"/>
    </a:ext>
  </a:extLst>
</a:theme>
</file>

<file path=ppt/theme/theme4.xml><?xml version="1.0" encoding="utf-8"?>
<a:theme xmlns:a="http://schemas.openxmlformats.org/drawingml/2006/main" name="4_INTRO slides">
  <a:themeElements>
    <a:clrScheme name="COB-colors">
      <a:dk1>
        <a:srgbClr val="003643"/>
      </a:dk1>
      <a:lt1>
        <a:srgbClr val="FFFFFF"/>
      </a:lt1>
      <a:dk2>
        <a:srgbClr val="006598"/>
      </a:dk2>
      <a:lt2>
        <a:srgbClr val="EAEAEA"/>
      </a:lt2>
      <a:accent1>
        <a:srgbClr val="00619A"/>
      </a:accent1>
      <a:accent2>
        <a:srgbClr val="4E9EBC"/>
      </a:accent2>
      <a:accent3>
        <a:srgbClr val="BCE783"/>
      </a:accent3>
      <a:accent4>
        <a:srgbClr val="D6E028"/>
      </a:accent4>
      <a:accent5>
        <a:srgbClr val="143641"/>
      </a:accent5>
      <a:accent6>
        <a:srgbClr val="8FA998"/>
      </a:accent6>
      <a:hlink>
        <a:srgbClr val="187A86"/>
      </a:hlink>
      <a:folHlink>
        <a:srgbClr val="701681"/>
      </a:folHlink>
    </a:clrScheme>
    <a:fontScheme name="COB fonts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0B98B5B9-6D66-D74D-B3DF-2F3035D8E258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C93A8148-46A0-7F4F-AAA7-D2EDBCB812C7}"/>
    </a:ext>
  </a:extLst>
</a:theme>
</file>

<file path=ppt/theme/theme6.xml><?xml version="1.0" encoding="utf-8"?>
<a:theme xmlns:a="http://schemas.openxmlformats.org/drawingml/2006/main" name="1_Custom Design">
  <a:themeElements>
    <a:clrScheme name="COB-colors">
      <a:dk1>
        <a:srgbClr val="003643"/>
      </a:dk1>
      <a:lt1>
        <a:srgbClr val="FFFFFF"/>
      </a:lt1>
      <a:dk2>
        <a:srgbClr val="006598"/>
      </a:dk2>
      <a:lt2>
        <a:srgbClr val="EAEAEA"/>
      </a:lt2>
      <a:accent1>
        <a:srgbClr val="00619A"/>
      </a:accent1>
      <a:accent2>
        <a:srgbClr val="4E9EBC"/>
      </a:accent2>
      <a:accent3>
        <a:srgbClr val="BCE783"/>
      </a:accent3>
      <a:accent4>
        <a:srgbClr val="D6E028"/>
      </a:accent4>
      <a:accent5>
        <a:srgbClr val="143641"/>
      </a:accent5>
      <a:accent6>
        <a:srgbClr val="8FA998"/>
      </a:accent6>
      <a:hlink>
        <a:srgbClr val="187A86"/>
      </a:hlink>
      <a:folHlink>
        <a:srgbClr val="70168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7D142F61-1AE5-1E45-BDEF-0C514176E0FE}"/>
    </a:ext>
  </a:extLst>
</a:theme>
</file>

<file path=ppt/theme/theme7.xml><?xml version="1.0" encoding="utf-8"?>
<a:theme xmlns:a="http://schemas.openxmlformats.org/drawingml/2006/main" name="5_INTRO slides">
  <a:themeElements>
    <a:clrScheme name="COB-colors">
      <a:dk1>
        <a:srgbClr val="003643"/>
      </a:dk1>
      <a:lt1>
        <a:srgbClr val="FFFFFF"/>
      </a:lt1>
      <a:dk2>
        <a:srgbClr val="006598"/>
      </a:dk2>
      <a:lt2>
        <a:srgbClr val="EAEAEA"/>
      </a:lt2>
      <a:accent1>
        <a:srgbClr val="00619A"/>
      </a:accent1>
      <a:accent2>
        <a:srgbClr val="4E9EBC"/>
      </a:accent2>
      <a:accent3>
        <a:srgbClr val="BCE783"/>
      </a:accent3>
      <a:accent4>
        <a:srgbClr val="D6E028"/>
      </a:accent4>
      <a:accent5>
        <a:srgbClr val="143641"/>
      </a:accent5>
      <a:accent6>
        <a:srgbClr val="8FA998"/>
      </a:accent6>
      <a:hlink>
        <a:srgbClr val="187A86"/>
      </a:hlink>
      <a:folHlink>
        <a:srgbClr val="701681"/>
      </a:folHlink>
    </a:clrScheme>
    <a:fontScheme name="COB fonts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uidelines" id="{DC6A8721-0136-2149-A1B0-241B0FE5C0B7}" vid="{0B98B5B9-6D66-D74D-B3DF-2F3035D8E258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OB">
    <a:dk1>
      <a:srgbClr val="08171D"/>
    </a:dk1>
    <a:lt1>
      <a:srgbClr val="FFFFFF"/>
    </a:lt1>
    <a:dk2>
      <a:srgbClr val="343333"/>
    </a:dk2>
    <a:lt2>
      <a:srgbClr val="E7E6E6"/>
    </a:lt2>
    <a:accent1>
      <a:srgbClr val="00619A"/>
    </a:accent1>
    <a:accent2>
      <a:srgbClr val="4E9EBC"/>
    </a:accent2>
    <a:accent3>
      <a:srgbClr val="BCE783"/>
    </a:accent3>
    <a:accent4>
      <a:srgbClr val="5CBEE2"/>
    </a:accent4>
    <a:accent5>
      <a:srgbClr val="143641"/>
    </a:accent5>
    <a:accent6>
      <a:srgbClr val="70AD47"/>
    </a:accent6>
    <a:hlink>
      <a:srgbClr val="00619A"/>
    </a:hlink>
    <a:folHlink>
      <a:srgbClr val="9346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12369</TotalTime>
  <Words>996</Words>
  <Application>Microsoft Office PowerPoint</Application>
  <PresentationFormat>Widescreen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Aptos</vt:lpstr>
      <vt:lpstr>Arial</vt:lpstr>
      <vt:lpstr>Calibri</vt:lpstr>
      <vt:lpstr>Montserrat SemiBold</vt:lpstr>
      <vt:lpstr>Open Sans</vt:lpstr>
      <vt:lpstr>Wingdings</vt:lpstr>
      <vt:lpstr>Theme1</vt:lpstr>
      <vt:lpstr>2_COB Theme</vt:lpstr>
      <vt:lpstr>3_COB Theme</vt:lpstr>
      <vt:lpstr>4_INTRO slides</vt:lpstr>
      <vt:lpstr>Custom Design</vt:lpstr>
      <vt:lpstr>1_Custom Design</vt:lpstr>
      <vt:lpstr>5_INTRO slides</vt:lpstr>
      <vt:lpstr>Women &amp; Minority Business Enterprises  (WMBE) Dashboard</vt:lpstr>
      <vt:lpstr>Goals</vt:lpstr>
      <vt:lpstr>Content</vt:lpstr>
      <vt:lpstr>Year-to-date Summary</vt:lpstr>
      <vt:lpstr>Key Metrics:  Year-to-date summary</vt:lpstr>
      <vt:lpstr>Key Metrics:  Year-to-date summary</vt:lpstr>
      <vt:lpstr>Key Metrics:  By WMBE Type</vt:lpstr>
      <vt:lpstr>Key Metrics:  Vendor Analysis</vt:lpstr>
      <vt:lpstr>Key Metrics:  Vendor Analysis</vt:lpstr>
      <vt:lpstr>Key Metrics:  Vendor Analysis</vt:lpstr>
      <vt:lpstr>Key Metrics:  Vendor Analysis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Lu, Carmen  (Jiamin)</dc:creator>
  <cp:lastModifiedBy>Lu, Carmen  (Jiamin)</cp:lastModifiedBy>
  <cp:revision>1</cp:revision>
  <cp:lastPrinted>2026-01-14T18:16:04Z</cp:lastPrinted>
  <dcterms:created xsi:type="dcterms:W3CDTF">2025-07-21T17:34:31Z</dcterms:created>
  <dcterms:modified xsi:type="dcterms:W3CDTF">2026-01-27T22:42:12Z</dcterms:modified>
</cp:coreProperties>
</file>